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ni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97280" cy="11245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103120" y="502920"/>
            <a:ext cx="9235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2E8F0"/>
                </a:solidFill>
                <a:latin typeface="Segoe UI"/>
              </a:defRPr>
            </a:pPr>
            <a:r>
              <a:t>ANIL NEERUKONDA INSTITUTE OF TECHNOLOGY AND SCIENCES (UGC AUTONOMOUS)</a:t>
            </a:r>
          </a:p>
          <a:p>
            <a:pPr>
              <a:defRPr sz="950" b="1">
                <a:solidFill>
                  <a:srgbClr val="93C5FD"/>
                </a:solidFill>
                <a:latin typeface="Segoe UI"/>
              </a:defRPr>
            </a:pPr>
            <a:r>
              <a:t>DEPARTMENT OF COMPUTER SCIENCE AND ENGINEERING | 23CS4219 - SOFTWARE ENGINEERING LABORATORY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91640"/>
            <a:ext cx="4389120" cy="320040"/>
          </a:xfrm>
          <a:prstGeom prst="roundRect">
            <a:avLst/>
          </a:prstGeom>
          <a:solidFill>
            <a:srgbClr val="1E3A8A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BFDBFE"/>
                </a:solidFill>
                <a:latin typeface="Segoe UI"/>
              </a:defRPr>
            </a:pPr>
            <a:r>
              <a:t>MINI PROJECT APPLICATION &amp; TECHNICAL EVALUATION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600" b="1">
                <a:solidFill>
                  <a:srgbClr val="FFFFFF"/>
                </a:solidFill>
                <a:latin typeface="Segoe UI"/>
              </a:defRPr>
            </a:pPr>
            <a:r>
              <a:t>GPS-Based Fleet Tracking &amp; Route Verification System</a:t>
            </a:r>
            <a:br/>
            <a:r>
              <a:t>for Municipal Solid Waste Management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A Pure Software-Only (Zero Hardware) Smart Waste Logistics &amp; Proof-of-Service Verification Platform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977639"/>
            <a:ext cx="5120640" cy="237744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>
              <a:spcAft>
                <a:spcPts val="800"/>
              </a:spcAft>
              <a:defRPr sz="1000" b="1">
                <a:solidFill>
                  <a:srgbClr val="38BDF8"/>
                </a:solidFill>
                <a:latin typeface="Segoe UI"/>
              </a:defRPr>
            </a:pPr>
            <a:r>
              <a:t>PROJECT DEVELOPER &amp; PRESENTER</a:t>
            </a:r>
          </a:p>
          <a:p>
            <a:pPr>
              <a:spcAft>
                <a:spcPts val="200"/>
              </a:spcAft>
              <a:defRPr sz="1050">
                <a:solidFill>
                  <a:srgbClr val="F1F5F9"/>
                </a:solidFill>
                <a:latin typeface="Segoe UI"/>
              </a:defRPr>
            </a:pPr>
            <a:r>
              <a:t>Name:  SAIKIRAN BORA</a:t>
            </a:r>
          </a:p>
          <a:p>
            <a:pPr>
              <a:spcAft>
                <a:spcPts val="200"/>
              </a:spcAft>
              <a:defRPr sz="1050">
                <a:solidFill>
                  <a:srgbClr val="F1F5F9"/>
                </a:solidFill>
                <a:latin typeface="Segoe UI"/>
              </a:defRPr>
            </a:pPr>
            <a:r>
              <a:t>Roll Number:  A24126510006</a:t>
            </a:r>
          </a:p>
          <a:p>
            <a:pPr>
              <a:spcAft>
                <a:spcPts val="200"/>
              </a:spcAft>
              <a:defRPr sz="1050">
                <a:solidFill>
                  <a:srgbClr val="F1F5F9"/>
                </a:solidFill>
                <a:latin typeface="Segoe UI"/>
              </a:defRPr>
            </a:pPr>
            <a:r>
              <a:t>Branch / Degree:  Computer Science &amp; Engineering (B.Tech)</a:t>
            </a:r>
          </a:p>
          <a:p>
            <a:pPr>
              <a:spcAft>
                <a:spcPts val="200"/>
              </a:spcAft>
              <a:defRPr sz="1050">
                <a:solidFill>
                  <a:srgbClr val="F1F5F9"/>
                </a:solidFill>
                <a:latin typeface="Segoe UI"/>
              </a:defRPr>
            </a:pPr>
            <a:r>
              <a:t>Class &amp; Section:  III Year, I Semester, Section - A</a:t>
            </a:r>
          </a:p>
          <a:p>
            <a:pPr>
              <a:spcAft>
                <a:spcPts val="200"/>
              </a:spcAft>
              <a:defRPr sz="1050">
                <a:solidFill>
                  <a:srgbClr val="F1F5F9"/>
                </a:solidFill>
                <a:latin typeface="Segoe UI"/>
              </a:defRPr>
            </a:pPr>
            <a:r>
              <a:t>Institution:  ANITS (Anil Neerukonda Institute of Tech &amp; Sci)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977639"/>
            <a:ext cx="5120640" cy="237744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>
              <a:spcAft>
                <a:spcPts val="800"/>
              </a:spcAft>
              <a:defRPr sz="1000" b="1">
                <a:solidFill>
                  <a:srgbClr val="34D399"/>
                </a:solidFill>
                <a:latin typeface="Segoe UI"/>
              </a:defRPr>
            </a:pPr>
            <a:r>
              <a:t>ACADEMIC SUPERVISION &amp; GUIDANCE</a:t>
            </a:r>
          </a:p>
          <a:p>
            <a:pPr>
              <a:spcAft>
                <a:spcPts val="200"/>
              </a:spcAft>
              <a:defRPr sz="1050">
                <a:solidFill>
                  <a:srgbClr val="F1F5F9"/>
                </a:solidFill>
                <a:latin typeface="Segoe UI"/>
              </a:defRPr>
            </a:pPr>
            <a:r>
              <a:t>Faculty Guide:  Prof. A. Rohini</a:t>
            </a:r>
          </a:p>
          <a:p>
            <a:pPr>
              <a:spcAft>
                <a:spcPts val="200"/>
              </a:spcAft>
              <a:defRPr sz="1050">
                <a:solidFill>
                  <a:srgbClr val="F1F5F9"/>
                </a:solidFill>
                <a:latin typeface="Segoe UI"/>
              </a:defRPr>
            </a:pPr>
            <a:r>
              <a:t>Designation:  Faculty Incharge, Dept. of CSE</a:t>
            </a:r>
          </a:p>
          <a:p>
            <a:pPr>
              <a:spcAft>
                <a:spcPts val="200"/>
              </a:spcAft>
              <a:defRPr sz="1050">
                <a:solidFill>
                  <a:srgbClr val="F1F5F9"/>
                </a:solidFill>
                <a:latin typeface="Segoe UI"/>
              </a:defRPr>
            </a:pPr>
            <a:r>
              <a:t>Head of Department:  Prof. G. Srinivas</a:t>
            </a:r>
          </a:p>
          <a:p>
            <a:pPr>
              <a:spcAft>
                <a:spcPts val="200"/>
              </a:spcAft>
              <a:defRPr sz="1050">
                <a:solidFill>
                  <a:srgbClr val="F1F5F9"/>
                </a:solidFill>
                <a:latin typeface="Segoe UI"/>
              </a:defRPr>
            </a:pPr>
            <a:r>
              <a:t>Designation:  HOD &amp; Professor, Dept. of CSE, ANITS</a:t>
            </a:r>
          </a:p>
          <a:p>
            <a:pPr>
              <a:spcAft>
                <a:spcPts val="200"/>
              </a:spcAft>
              <a:defRPr sz="1050">
                <a:solidFill>
                  <a:srgbClr val="F1F5F9"/>
                </a:solidFill>
                <a:latin typeface="Segoe UI"/>
              </a:defRPr>
            </a:pPr>
            <a:r>
              <a:t>Academic Year:  2026 • 2027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114800" cy="29260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2563EB"/>
                </a:solidFill>
                <a:latin typeface="Segoe UI"/>
              </a:defRPr>
            </a:pPr>
            <a:r>
              <a:t>01 | DOMAIN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Introduction: Urban Solid Waste Management Realities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98448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  <a:latin typeface="Segoe UI"/>
              </a:defRPr>
            </a:pPr>
            <a:r>
              <a:t>Saikiran Bora (Roll No: A24126510006) | Branch: CSE, ANITS  •  CivicClean GIS: GPS Fleet Tracking &amp; Route Verification Platform  •  Slide 2 of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347472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4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1. Urban Waste Generation Scale</a:t>
            </a:r>
          </a:p>
          <a:p>
            <a:pPr>
              <a:spcAft>
                <a:spcPts val="4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• Rapid urbanization across tier-2 cities like Visakhapatnam generates 500+ metric tons of waste daily.</a:t>
            </a:r>
          </a:p>
          <a:p>
            <a:pPr>
              <a:spcAft>
                <a:spcPts val="4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• Covers dense residential colonies, market yards, commercial districts, and narrow coastal alleys.</a:t>
            </a:r>
          </a:p>
          <a:p>
            <a:pPr>
              <a:spcAft>
                <a:spcPts val="4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• Requires continuous, synchronized vehicle dispatch across dozens of municipal wards daily.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554480"/>
            <a:ext cx="347472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400"/>
              </a:spcAft>
              <a:defRPr sz="1200" b="1">
                <a:solidFill>
                  <a:srgbClr val="10B981"/>
                </a:solidFill>
                <a:latin typeface="Segoe UI"/>
              </a:defRPr>
            </a:pPr>
            <a:r>
              <a:t>2. Public Health &amp; Civic Hygiene</a:t>
            </a:r>
          </a:p>
          <a:p>
            <a:pPr>
              <a:spcAft>
                <a:spcPts val="4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• Uncollected secondary garbage bins overflow within hours, producing foul odors and civic hazards.</a:t>
            </a:r>
          </a:p>
          <a:p>
            <a:pPr>
              <a:spcAft>
                <a:spcPts val="4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• Accelerates the breeding of disease vectors (dengue, cholera, malaria) and stray animal feeding.</a:t>
            </a:r>
          </a:p>
          <a:p>
            <a:pPr>
              <a:spcAft>
                <a:spcPts val="4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• Corrosive leachate fluid seeps into municipal storm drains and local groundwater reserves.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554480"/>
            <a:ext cx="347472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400"/>
              </a:spcAft>
              <a:defRPr sz="1200" b="1">
                <a:solidFill>
                  <a:srgbClr val="8B5CF6"/>
                </a:solidFill>
                <a:latin typeface="Segoe UI"/>
              </a:defRPr>
            </a:pPr>
            <a:r>
              <a:t>3. High Operational Expenditure</a:t>
            </a:r>
          </a:p>
          <a:p>
            <a:pPr>
              <a:spcAft>
                <a:spcPts val="4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• Municipal corporations dedicate up to 35%•40% of their total civic budget to solid waste logistics.</a:t>
            </a:r>
          </a:p>
          <a:p>
            <a:pPr>
              <a:spcAft>
                <a:spcPts val="4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• Fuel costs, compactor maintenance, and ground personnel constitute massive daily expenditures.</a:t>
            </a:r>
          </a:p>
          <a:p>
            <a:pPr>
              <a:spcAft>
                <a:spcPts val="4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• Lack of software automation causes systemic financial inefficiency and untracked service delivery.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114800" cy="29260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2563EB"/>
                </a:solidFill>
                <a:latin typeface="Segoe UI"/>
              </a:defRPr>
            </a:pPr>
            <a:r>
              <a:t>02 |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Problem Statement: Breakdown of Conventional Manual Logistics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98448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  <a:latin typeface="Segoe UI"/>
              </a:defRPr>
            </a:pPr>
            <a:r>
              <a:t>Saikiran Bora (Roll No: A24126510006) | Branch: CSE, ANITS  •  CivicClean GIS: GPS Fleet Tracking &amp; Route Verification Platform  •  Slide 3 of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400"/>
              </a:spcAft>
              <a:defRPr sz="1200" b="1">
                <a:solidFill>
                  <a:srgbClr val="F59E0B"/>
                </a:solidFill>
                <a:latin typeface="Segoe UI"/>
              </a:defRPr>
            </a:pPr>
            <a:r>
              <a:t>Static, Inflexible Route Sheets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Collection trucks follow historically inherited, paper-based schedules. Vehicles are dispatched blindly regardless of actual bin fill levels or neighborhood accumulation urgency.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55448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400"/>
              </a:spcAft>
              <a:defRPr sz="1200" b="1">
                <a:solidFill>
                  <a:srgbClr val="EF4444"/>
                </a:solidFill>
                <a:latin typeface="Segoe UI"/>
              </a:defRPr>
            </a:pPr>
            <a:r>
              <a:t>Zero Route Verifiability &amp; Accountability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Sanitation supervisors have NO digital proof or timestamped logs to verify whether a driver actually emptied a scheduled bin or completely bypassed it during their shift.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8620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400"/>
              </a:spcAft>
              <a:defRPr sz="1200" b="1">
                <a:solidFill>
                  <a:srgbClr val="EF4444"/>
                </a:solidFill>
                <a:latin typeface="Segoe UI"/>
              </a:defRPr>
            </a:pPr>
            <a:r>
              <a:t>Substantial Fuel &amp; Fleet Wastage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Compactor trucks burn diesel visiting low-waste or already-empty bins, while heavily overflowing market checkpoints remain untouched, causing unbalanced fleet utilization.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88620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400"/>
              </a:spcAft>
              <a:defRPr sz="1200" b="1">
                <a:solidFill>
                  <a:srgbClr val="F59E0B"/>
                </a:solidFill>
                <a:latin typeface="Segoe UI"/>
              </a:defRPr>
            </a:pPr>
            <a:r>
              <a:t>Reactive &amp; Informal Grievance Loop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Residents discover missed pickups only after days of overflow. Complaints are handled via informal phone calls that lack ticket numbers, escalation, or resolution verification.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114800" cy="29260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2563EB"/>
                </a:solidFill>
                <a:latin typeface="Segoe UI"/>
              </a:defRPr>
            </a:pPr>
            <a:r>
              <a:t>03 | ROOT CAUSE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Root Cause Analysis: Why Previous IoT Hardware Approaches Failed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98448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  <a:latin typeface="Segoe UI"/>
              </a:defRPr>
            </a:pPr>
            <a:r>
              <a:t>Saikiran Bora (Roll No: A24126510006) | Branch: CSE, ANITS  •  CivicClean GIS: GPS Fleet Tracking &amp; Route Verification Platform  •  Slide 4 of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52578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400"/>
              </a:spcAft>
              <a:defRPr sz="1200" b="1">
                <a:solidFill>
                  <a:srgbClr val="EF4444"/>
                </a:solidFill>
                <a:latin typeface="Segoe UI"/>
              </a:defRPr>
            </a:pPr>
            <a:r>
              <a:t>The Fallacy of Dedicated IoT Hardware (Solution 1)</a:t>
            </a:r>
          </a:p>
          <a:p>
            <a:pPr>
              <a:spcAft>
                <a:spcPts val="6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• Prohibitive Capital Cost: Procuring thousands of ultrasonic level sensors and LoRaWAN gateways requires massive municipal capital outlay.</a:t>
            </a:r>
          </a:p>
          <a:p>
            <a:pPr>
              <a:spcAft>
                <a:spcPts val="6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• Rampant Public Vandalism: Sensors mounted in outdoor bins are stolen, damaged by scavengers, or smashed by hydraulic compactor arms.</a:t>
            </a:r>
          </a:p>
          <a:p>
            <a:pPr>
              <a:spcAft>
                <a:spcPts val="6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• Extreme Environmental Wear: Corrosive waste leachate, monsoon rain, and toxic gases rapidly degrade electronic circuitry.</a:t>
            </a:r>
          </a:p>
          <a:p>
            <a:pPr>
              <a:spcAft>
                <a:spcPts val="6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• Battery Maintenance Overhead: Replacing batteries across thousands of distributed city bins creates an unsustainable maintenance burden.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578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400"/>
              </a:spcAft>
              <a:defRPr sz="1200" b="1">
                <a:solidFill>
                  <a:srgbClr val="1E3A8A"/>
                </a:solidFill>
                <a:latin typeface="Segoe UI"/>
              </a:defRPr>
            </a:pPr>
            <a:r>
              <a:t>The Core Root Cause Identified</a:t>
            </a:r>
          </a:p>
          <a:p>
            <a:pPr>
              <a:spcAft>
                <a:spcPts val="1000"/>
              </a:spcAft>
              <a:defRPr sz="1200" b="1">
                <a:solidFill>
                  <a:srgbClr val="1E3A8A"/>
                </a:solidFill>
                <a:latin typeface="Segoe UI"/>
              </a:defRPr>
            </a:pPr>
            <a:r>
              <a:t>Municipal solid waste collection fails NOT because public bins lack electronic chips, but because there is NO real-time digital feedback loop connecting trucks, drivers, supervisors, and residents.</a:t>
            </a:r>
          </a:p>
          <a:p>
            <a:pPr>
              <a:spcAft>
                <a:spcPts val="6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• Missing Proof of Service: Paper log sheets permit post-shift falsification of completed pickups.</a:t>
            </a:r>
          </a:p>
          <a:p>
            <a:pPr>
              <a:spcAft>
                <a:spcPts val="6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• No Obstruction Recording: When roads are blocked by construction, drivers bypass bins with no record.</a:t>
            </a:r>
          </a:p>
          <a:p>
            <a:pPr>
              <a:spcAft>
                <a:spcPts val="6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• Zero Stakeholder Synergy: Supervisors cannot see trucks; drivers cannot see complaints; citizens cannot see schedules.</a:t>
            </a:r>
          </a:p>
          <a:p>
            <a:pPr>
              <a:spcAft>
                <a:spcPts val="6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• The Strategic Takeaway: A pure software-only system can solve 100% of these challenges without spending a single rupee on in-bin hardware!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114800" cy="29260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2563EB"/>
                </a:solidFill>
                <a:latin typeface="Segoe UI"/>
              </a:defRPr>
            </a:pPr>
            <a:r>
              <a:t>04 | 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Proposed Solution: Zero-Hardware Smart Waste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98448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  <a:latin typeface="Segoe UI"/>
              </a:defRPr>
            </a:pPr>
            <a:r>
              <a:t>Saikiran Bora (Roll No: A24126510006) | Branch: CSE, ANITS  •  CivicClean GIS: GPS Fleet Tracking &amp; Route Verification Platform  •  Slide 5 of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10728655" cy="594360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STRATEGIC PARADIGM SHIFT: Eliminating 100% of Physical In-Bin Sensors by Utilizing Commodity Smartphones &amp; Web APIs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240280"/>
            <a:ext cx="2578608" cy="397763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4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1. Commodity Smartphone Telemetry</a:t>
            </a:r>
          </a:p>
          <a:p>
            <a:pPr>
              <a:spcAft>
                <a:spcPts val="3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• Field drivers use their existing Android/iOS phones mounted in the truck cab.</a:t>
            </a:r>
          </a:p>
          <a:p>
            <a:pPr>
              <a:spcAft>
                <a:spcPts val="3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• Built-in GPS chip continuously streams real-time coordinates, speed, and heading.</a:t>
            </a:r>
          </a:p>
          <a:p>
            <a:pPr>
              <a:spcAft>
                <a:spcPts val="3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• Zero vehicle retrofitting or dedicated OBD tracker hardware required.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2240280"/>
            <a:ext cx="2578608" cy="397763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400"/>
              </a:spcAft>
              <a:defRPr sz="1200" b="1">
                <a:solidFill>
                  <a:srgbClr val="10B981"/>
                </a:solidFill>
                <a:latin typeface="Segoe UI"/>
              </a:defRPr>
            </a:pPr>
            <a:r>
              <a:t>2. Geofence-Enforced Proof-of-Service</a:t>
            </a:r>
          </a:p>
          <a:p>
            <a:pPr>
              <a:spcAft>
                <a:spcPts val="3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• Spherical Haversine calculation verifies truck proximity to target bin coordinates.</a:t>
            </a:r>
          </a:p>
          <a:p>
            <a:pPr>
              <a:spcAft>
                <a:spcPts val="3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• Camera photo capture is unlocked ONLY when within 15 meters of the bin.</a:t>
            </a:r>
          </a:p>
          <a:p>
            <a:pPr>
              <a:spcAft>
                <a:spcPts val="3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• Creates immutable, tamper-resistant proof timestamps and coordinate hashes.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2240280"/>
            <a:ext cx="2578608" cy="397763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400"/>
              </a:spcAft>
              <a:defRPr sz="1200" b="1">
                <a:solidFill>
                  <a:srgbClr val="8B5CF6"/>
                </a:solidFill>
                <a:latin typeface="Segoe UI"/>
              </a:defRPr>
            </a:pPr>
            <a:r>
              <a:t>3. Crowdsourced Citizen Reporting</a:t>
            </a:r>
          </a:p>
          <a:p>
            <a:pPr>
              <a:spcAft>
                <a:spcPts val="3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• Residents act as intelligent distributed sensors for citywide bin fill monitoring.</a:t>
            </a:r>
          </a:p>
          <a:p>
            <a:pPr>
              <a:spcAft>
                <a:spcPts val="3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• Upload geotagged photos of overflowing bins with one-click GPS pin-drops.</a:t>
            </a:r>
          </a:p>
          <a:p>
            <a:pPr>
              <a:spcAft>
                <a:spcPts val="3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• Eliminates the need for thousands of expensive ultrasonic level sensors.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06256" y="2240280"/>
            <a:ext cx="2578608" cy="397763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400"/>
              </a:spcAft>
              <a:defRPr sz="1200" b="1">
                <a:solidFill>
                  <a:srgbClr val="F59E0B"/>
                </a:solidFill>
                <a:latin typeface="Segoe UI"/>
              </a:defRPr>
            </a:pPr>
            <a:r>
              <a:t>4. Transparent Exception Logging</a:t>
            </a:r>
          </a:p>
          <a:p>
            <a:pPr>
              <a:spcAft>
                <a:spcPts val="3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• When drivers encounter road excavations or blockages, they log structured skip reasons.</a:t>
            </a:r>
          </a:p>
          <a:p>
            <a:pPr>
              <a:spcAft>
                <a:spcPts val="3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• Instantly alerts supervisors and flags the checkpoint in red on the live map.</a:t>
            </a:r>
          </a:p>
          <a:p>
            <a:pPr>
              <a:spcAft>
                <a:spcPts val="3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• Distinguishes between legitimate operational impediments and driver negligence.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114800" cy="29260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2563EB"/>
                </a:solidFill>
                <a:latin typeface="Segoe UI"/>
              </a:defRPr>
            </a:pPr>
            <a:r>
              <a:t>05 |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System Architecture: 3-Tier Enterprise Web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98448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  <a:latin typeface="Segoe UI"/>
              </a:defRPr>
            </a:pPr>
            <a:r>
              <a:t>Saikiran Bora (Roll No: A24126510006) | Branch: CSE, ANITS  •  CivicClean GIS: GPS Fleet Tracking &amp; Route Verification Platform  •  Slide 6 of 16</a:t>
            </a:r>
          </a:p>
        </p:txBody>
      </p:sp>
      <p:pic>
        <p:nvPicPr>
          <p:cNvPr id="7" name="Picture 6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669280" cy="358881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83680" y="1508760"/>
            <a:ext cx="4876495" cy="14447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4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Tier 1: Presentation Layer (Client Interfaces)</a:t>
            </a:r>
          </a:p>
          <a:p>
            <a:pPr>
              <a:spcAft>
                <a:spcPts val="200"/>
              </a:spcAft>
              <a:defRPr sz="900">
                <a:solidFill>
                  <a:srgbClr val="475569"/>
                </a:solidFill>
                <a:latin typeface="Segoe UI"/>
              </a:defRPr>
            </a:pPr>
            <a:r>
              <a:t>• Supervisor Command Hub: Responsive Desktop browser (Leaflet.js GIS, Telemetry).</a:t>
            </a:r>
          </a:p>
          <a:p>
            <a:pPr>
              <a:spcAft>
                <a:spcPts val="200"/>
              </a:spcAft>
              <a:defRPr sz="900">
                <a:solidFill>
                  <a:srgbClr val="475569"/>
                </a:solidFill>
                <a:latin typeface="Segoe UI"/>
              </a:defRPr>
            </a:pPr>
            <a:r>
              <a:t>• Driver Field Portal: Touch-optimized mobile PWA for one-hand in-cab operation.</a:t>
            </a:r>
          </a:p>
          <a:p>
            <a:pPr>
              <a:spcAft>
                <a:spcPts val="200"/>
              </a:spcAft>
              <a:defRPr sz="900">
                <a:solidFill>
                  <a:srgbClr val="475569"/>
                </a:solidFill>
                <a:latin typeface="Segoe UI"/>
              </a:defRPr>
            </a:pPr>
            <a:r>
              <a:t>• Citizen Portal: Public responsive web interface for geotagged grievance reporting.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3063239"/>
            <a:ext cx="4876495" cy="14447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400"/>
              </a:spcAft>
              <a:defRPr sz="1200" b="1">
                <a:solidFill>
                  <a:srgbClr val="10B981"/>
                </a:solidFill>
                <a:latin typeface="Segoe UI"/>
              </a:defRPr>
            </a:pPr>
            <a:r>
              <a:t>Tier 2: Application / Logic Layer (Node.js &amp; Express)</a:t>
            </a:r>
          </a:p>
          <a:p>
            <a:pPr>
              <a:spcAft>
                <a:spcPts val="200"/>
              </a:spcAft>
              <a:defRPr sz="900">
                <a:solidFill>
                  <a:srgbClr val="475569"/>
                </a:solidFill>
                <a:latin typeface="Segoe UI"/>
              </a:defRPr>
            </a:pPr>
            <a:r>
              <a:t>• REST API Gateway: Handles stateless JSON endpoints (/api/vehicles, /api/stops).</a:t>
            </a:r>
          </a:p>
          <a:p>
            <a:pPr>
              <a:spcAft>
                <a:spcPts val="200"/>
              </a:spcAft>
              <a:defRPr sz="900">
                <a:solidFill>
                  <a:srgbClr val="475569"/>
                </a:solidFill>
                <a:latin typeface="Segoe UI"/>
              </a:defRPr>
            </a:pPr>
            <a:r>
              <a:t>• Geofencing Engine: Haversine distance calculations and coordinate validation.</a:t>
            </a:r>
          </a:p>
          <a:p>
            <a:pPr>
              <a:spcAft>
                <a:spcPts val="200"/>
              </a:spcAft>
              <a:defRPr sz="900">
                <a:solidFill>
                  <a:srgbClr val="475569"/>
                </a:solidFill>
                <a:latin typeface="Segoe UI"/>
              </a:defRPr>
            </a:pPr>
            <a:r>
              <a:t>• Telemetry &amp; Simulation Router: Real-time coordinate interpolation and streaming.</a:t>
            </a:r>
          </a:p>
          <a:p>
            <a:pPr>
              <a:spcAft>
                <a:spcPts val="200"/>
              </a:spcAft>
              <a:defRPr sz="900">
                <a:solidFill>
                  <a:srgbClr val="475569"/>
                </a:solidFill>
                <a:latin typeface="Segoe UI"/>
              </a:defRPr>
            </a:pPr>
            <a:r>
              <a:t>• Grievance Engine: Auto-dispatching tickets and managing resolution workflows.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4617720"/>
            <a:ext cx="4876495" cy="14447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400"/>
              </a:spcAft>
              <a:defRPr sz="1200" b="1">
                <a:solidFill>
                  <a:srgbClr val="F59E0B"/>
                </a:solidFill>
                <a:latin typeface="Segoe UI"/>
              </a:defRPr>
            </a:pPr>
            <a:r>
              <a:t>Tier 3: Data Persistence Layer (Storage)</a:t>
            </a:r>
          </a:p>
          <a:p>
            <a:pPr>
              <a:spcAft>
                <a:spcPts val="200"/>
              </a:spcAft>
              <a:defRPr sz="900">
                <a:solidFill>
                  <a:srgbClr val="475569"/>
                </a:solidFill>
                <a:latin typeface="Segoe UI"/>
              </a:defRPr>
            </a:pPr>
            <a:r>
              <a:t>• In-Memory Cache: Sub-millisecond read/write access for live vehicle tracking.</a:t>
            </a:r>
          </a:p>
          <a:p>
            <a:pPr>
              <a:spcAft>
                <a:spcPts val="200"/>
              </a:spcAft>
              <a:defRPr sz="900">
                <a:solidFill>
                  <a:srgbClr val="475569"/>
                </a:solidFill>
                <a:latin typeface="Segoe UI"/>
              </a:defRPr>
            </a:pPr>
            <a:r>
              <a:t>• Route &amp; Geometry Store: Pre-registered ward stop coordinates and street waypoints.</a:t>
            </a:r>
          </a:p>
          <a:p>
            <a:pPr>
              <a:spcAft>
                <a:spcPts val="200"/>
              </a:spcAft>
              <a:defRPr sz="900">
                <a:solidFill>
                  <a:srgbClr val="475569"/>
                </a:solidFill>
                <a:latin typeface="Segoe UI"/>
              </a:defRPr>
            </a:pPr>
            <a:r>
              <a:t>• Tamper-Resistant Audit Log: Immutable history of all verified pickups and skips.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114800" cy="29260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2563EB"/>
                </a:solidFill>
                <a:latin typeface="Segoe UI"/>
              </a:defRPr>
            </a:pPr>
            <a:r>
              <a:t>06 | DATA FLOW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Data Flow Architecture: Process Decomposition &amp; Data Stores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98448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  <a:latin typeface="Segoe UI"/>
              </a:defRPr>
            </a:pPr>
            <a:r>
              <a:t>Saikiran Bora (Roll No: A24126510006) | Branch: CSE, ANITS  •  CivicClean GIS: GPS Fleet Tracking &amp; Route Verification Platform  •  Slide 7 of 16</a:t>
            </a:r>
          </a:p>
        </p:txBody>
      </p:sp>
      <p:pic>
        <p:nvPicPr>
          <p:cNvPr id="7" name="Picture 6" descr="dfd_level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669280" cy="358881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83680" y="1508760"/>
            <a:ext cx="4876495" cy="4526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400"/>
              </a:spcAft>
              <a:defRPr sz="1200" b="1">
                <a:solidFill>
                  <a:srgbClr val="1E3A8A"/>
                </a:solidFill>
                <a:latin typeface="Segoe UI"/>
              </a:defRPr>
            </a:pPr>
            <a:r>
              <a:t>Process Routing &amp; Data Stores Analysis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• External Entities: Driver (Field Worker), Sanitation Supervisor (Admin), and Citizen (Resident).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• Process 1.0 (Fleet Telemetry Engine): Ingests periodic smartphone GPS latitude/longitude feeds and updates active vehicle coordinates in Data Store D1.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• Process 2.0 (Checkpoint Geofencing): Matches real-time vehicle positions against target checkpoints in Master Route Store D2.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• Process 3.0 (Proof-of-Service Verification): Validates 15m proximity, inspects camera photos, checks timestamp integrity, and commits records to Proof DB D3.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• Process 4.0 (Citizen Grievance Redressal): Receives citizen complaints with photo evidence, generates ticket IDs, and stores records in Grievance DB D4.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• Process 5.0 (Audit &amp; Performance Reporting): Aggregates ward-wise waste weights, route completion rates, and fuel conservation KPIs.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114800" cy="29260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2563EB"/>
                </a:solidFill>
                <a:latin typeface="Segoe UI"/>
              </a:defRPr>
            </a:pPr>
            <a:r>
              <a:t>07 | SUPERVISOR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Module 1: Supervisor Real-Time GIS Fleet Command Hub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98448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  <a:latin typeface="Segoe UI"/>
              </a:defRPr>
            </a:pPr>
            <a:r>
              <a:t>Saikiran Bora (Roll No: A24126510006) | Branch: CSE, ANITS  •  CivicClean GIS: GPS Fleet Tracking &amp; Route Verification Platform  •  Slide 8 of 16</a:t>
            </a:r>
          </a:p>
        </p:txBody>
      </p:sp>
      <p:pic>
        <p:nvPicPr>
          <p:cNvPr id="7" name="Picture 6" descr="screenshot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852160" cy="360587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766560" y="1508760"/>
            <a:ext cx="4693615" cy="4526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400"/>
              </a:spcAft>
              <a:defRPr sz="1200" b="1">
                <a:solidFill>
                  <a:srgbClr val="1E3A8A"/>
                </a:solidFill>
                <a:latin typeface="Segoe UI"/>
              </a:defRPr>
            </a:pPr>
            <a:r>
              <a:t>Supervisor Operational Capabilities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• Interactive GIS Canvas (Leaflet &amp; OSM): Renders Visakhapatnam / Bheemili sector with route polylines, vehicle positions, and checkpoint status markers.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• Color-Coded Status Markers: Green for Verified Collected, Amber for Pending, Red for Skipped / Obstruction, Blue for Active Truck, Purple for Citizen Hotspots.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• Real-Time Vehicle Telemetry: Monitors truck AP39-TM-1001 live speed (24 km/h), fuel level (78%), battery health, and GPS accuracy (•4m).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• Vehicle Simulation Controller: Includes Play, Pause, and Step Next controls allowing supervisors to simulate coordinate movements during driver training.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• Live Proof-of-Service Stream: Displays live thumbnails of driver-uploaded collection photos alongside timestamp and geofence tolerance accuracy.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114800" cy="29260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2563EB"/>
                </a:solidFill>
                <a:latin typeface="Segoe UI"/>
              </a:defRPr>
            </a:pPr>
            <a:r>
              <a:t>08 | DRIVER FIELD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Module 2: Driver Touch-Optimized Mobile Field Manifest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98448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  <a:latin typeface="Segoe UI"/>
              </a:defRPr>
            </a:pPr>
            <a:r>
              <a:t>Saikiran Bora (Roll No: A24126510006) | Branch: CSE, ANITS  •  CivicClean GIS: GPS Fleet Tracking &amp; Route Verification Platform  •  Slide 9 of 16</a:t>
            </a:r>
          </a:p>
        </p:txBody>
      </p:sp>
      <p:pic>
        <p:nvPicPr>
          <p:cNvPr id="7" name="Picture 6" descr="screenshot_dri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852160" cy="360587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766560" y="1508760"/>
            <a:ext cx="4693615" cy="4526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400"/>
              </a:spcAft>
              <a:defRPr sz="1200" b="1">
                <a:solidFill>
                  <a:srgbClr val="1E3A8A"/>
                </a:solidFill>
                <a:latin typeface="Segoe UI"/>
              </a:defRPr>
            </a:pPr>
            <a:r>
              <a:t>Field Driver Interface &amp; Workflows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• Mobile Frame Optimization: Specifically tailored for drivers operating compactor trucks with one-hand touch navigation on commodity Android phones.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• GPS Geofencing Status Banner: Monitors active GNSS satellite connection, providing high-precision location lock (•4m accuracy).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• Dynamic Route Progress Tracking: Visual completion progress bar (e.g. 2 of 6 Stops Completed - 33%) updating instantly upon pickup verification.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• One-Tap 'Mark Collected' Action: Unlocked only when vehicle is within 15 meters of bin. Prompts camera snapshot, captures coordinates, and records waste weight.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• Structured 'Skip Stop' Exception Workflow: When access roads are blocked, the driver selects from standardized reasons (excavation, narrow lane, hazardous waste) with custom remarks.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114800" cy="29260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2563EB"/>
                </a:solidFill>
                <a:latin typeface="Segoe UI"/>
              </a:defRPr>
            </a:pPr>
            <a:r>
              <a:t>09 | CITIZEN PORTAL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Module 3: Citizen Crowdsourced Waste Grievance Portal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98448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  <a:latin typeface="Segoe UI"/>
              </a:defRPr>
            </a:pPr>
            <a:r>
              <a:t>Saikiran Bora (Roll No: A24126510006) | Branch: CSE, ANITS  •  CivicClean GIS: GPS Fleet Tracking &amp; Route Verification Platform  •  Slide 10 of 16</a:t>
            </a:r>
          </a:p>
        </p:txBody>
      </p:sp>
      <p:pic>
        <p:nvPicPr>
          <p:cNvPr id="7" name="Picture 6" descr="screenshot_citiz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852160" cy="360587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766560" y="1508760"/>
            <a:ext cx="4693615" cy="4526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400"/>
              </a:spcAft>
              <a:defRPr sz="1200" b="1">
                <a:solidFill>
                  <a:srgbClr val="1E3A8A"/>
                </a:solidFill>
                <a:latin typeface="Segoe UI"/>
              </a:defRPr>
            </a:pPr>
            <a:r>
              <a:t>Citizen Empowerment &amp; Tracking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• Hotspot Reporting Form: Residents report overflowing public bins, missed scheduled pickups, or illegal roadside waste dumps directly from their phone browser.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• One-Click GPS Pin Placement: Allows citizens to capture their phone's exact geolocation with a single tap, pinning the complaint on the municipal map.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• Photo Evidence Upload: Attaches photographic proof of garbage accumulation for supervisory triage and dispatch prioritization.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• Live Grievance Tracking Timeline: Unique tracking ticket ID (e.g. #CMP-2026-104) displays a 3-stage progress timeline: Submitted -&gt; Truck Dispatched -&gt; Clearance Verified.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• Ward Collection Timings Roster: Public schedule displaying daily pickup time slots and assigned vehicles across municipal wards.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114800" cy="29260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2563EB"/>
                </a:solidFill>
                <a:latin typeface="Segoe UI"/>
              </a:defRPr>
            </a:pPr>
            <a:r>
              <a:t>10 | PROOF-OF-SERVICE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Proof-of-Service Engine: Geofencing &amp; Tamper-Resistant Audit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98448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  <a:latin typeface="Segoe UI"/>
              </a:defRPr>
            </a:pPr>
            <a:r>
              <a:t>Saikiran Bora (Roll No: A24126510006) | Branch: CSE, ANITS  •  CivicClean GIS: GPS Fleet Tracking &amp; Route Verification Platform  •  Slide 11 of 16</a:t>
            </a:r>
          </a:p>
        </p:txBody>
      </p:sp>
      <p:pic>
        <p:nvPicPr>
          <p:cNvPr id="7" name="Picture 6" descr="screenshot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852160" cy="360587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766560" y="1508760"/>
            <a:ext cx="4693615" cy="4526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400"/>
              </a:spcAft>
              <a:defRPr sz="1200" b="1">
                <a:solidFill>
                  <a:srgbClr val="1E3A8A"/>
                </a:solidFill>
                <a:latin typeface="Segoe UI"/>
              </a:defRPr>
            </a:pPr>
            <a:r>
              <a:t>Geospatial Proximity &amp; Integrity Verification</a:t>
            </a:r>
          </a:p>
          <a:p>
            <a:pPr>
              <a:spcAft>
                <a:spcPts val="400"/>
              </a:spcAft>
              <a:defRPr sz="900">
                <a:solidFill>
                  <a:srgbClr val="475569"/>
                </a:solidFill>
                <a:latin typeface="Segoe UI"/>
              </a:defRPr>
            </a:pPr>
            <a:r>
              <a:t>• Haversine Spherical Distance Validation: Calculates great-circle distance between truck GPS (lat1, lon1) and bin coordinates (lat2, lon2):</a:t>
            </a:r>
            <a:br/>
            <a:r>
              <a:t>  d = 2R • arcsin(•(sin•(••/2) + cos(•1)cos(•2)sin•(••/2)))</a:t>
            </a:r>
            <a:br/>
            <a:r>
              <a:t>If d &lt;= 15.0 meters, collection action is unlocked; otherwise blocked.</a:t>
            </a:r>
          </a:p>
          <a:p>
            <a:pPr>
              <a:spcAft>
                <a:spcPts val="400"/>
              </a:spcAft>
              <a:defRPr sz="900">
                <a:solidFill>
                  <a:srgbClr val="475569"/>
                </a:solidFill>
                <a:latin typeface="Segoe UI"/>
              </a:defRPr>
            </a:pPr>
            <a:r>
              <a:t>• Immutable Audit Trail Logging: Every collection and skip event records timestamp, vehicle registration, driver identity, and GPS tolerance accuracy (e.g., '5 meters - VALID').</a:t>
            </a:r>
          </a:p>
          <a:p>
            <a:pPr>
              <a:spcAft>
                <a:spcPts val="400"/>
              </a:spcAft>
              <a:defRPr sz="900">
                <a:solidFill>
                  <a:srgbClr val="475569"/>
                </a:solidFill>
                <a:latin typeface="Segoe UI"/>
              </a:defRPr>
            </a:pPr>
            <a:r>
              <a:t>• Elimination of Service Falsification: Drivers cannot fabricate collection logs after hours; completion requires physical proximity and real-time photo verification.</a:t>
            </a:r>
          </a:p>
          <a:p>
            <a:pPr>
              <a:spcAft>
                <a:spcPts val="400"/>
              </a:spcAft>
              <a:defRPr sz="900">
                <a:solidFill>
                  <a:srgbClr val="475569"/>
                </a:solidFill>
                <a:latin typeface="Segoe UI"/>
              </a:defRPr>
            </a:pPr>
            <a:r>
              <a:t>• Automated Exception Flagging: Skipped stops are marked with categorized justifications and driver remarks for supervisor administrative audit.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114800" cy="29260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2563EB"/>
                </a:solidFill>
                <a:latin typeface="Segoe UI"/>
              </a:defRPr>
            </a:pPr>
            <a:r>
              <a:t>11 | UML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UML Design: Structural &amp; Behavioral Software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98448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  <a:latin typeface="Segoe UI"/>
              </a:defRPr>
            </a:pPr>
            <a:r>
              <a:t>Saikiran Bora (Roll No: A24126510006) | Branch: CSE, ANITS  •  CivicClean GIS: GPS Fleet Tracking &amp; Route Verification Platform  •  Slide 12 of 16</a:t>
            </a:r>
          </a:p>
        </p:txBody>
      </p:sp>
      <p:pic>
        <p:nvPicPr>
          <p:cNvPr id="7" name="Picture 6" descr="use_cas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70859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72200" y="1508760"/>
            <a:ext cx="5287975" cy="4526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400"/>
              </a:spcAft>
              <a:defRPr sz="1200" b="1">
                <a:solidFill>
                  <a:srgbClr val="1E3A8A"/>
                </a:solidFill>
                <a:latin typeface="Segoe UI"/>
              </a:defRPr>
            </a:pPr>
            <a:r>
              <a:t>UML Architecture &amp; OO Models Breakdown</a:t>
            </a:r>
          </a:p>
          <a:p>
            <a:pPr>
              <a:spcAft>
                <a:spcPts val="400"/>
              </a:spcAft>
              <a:defRPr sz="900">
                <a:solidFill>
                  <a:srgbClr val="475569"/>
                </a:solidFill>
                <a:latin typeface="Segoe UI"/>
              </a:defRPr>
            </a:pPr>
            <a:r>
              <a:t>• Use Case Model (Figure 9.1): Defines 8 primary use cases spanning Driver (View Manifest, Mark Collected, Skip Stop), Citizen (Report Overflow, Track Status), and Supervisor (Live GIS Map, Verify Proof, Audit).</a:t>
            </a:r>
          </a:p>
          <a:p>
            <a:pPr>
              <a:spcAft>
                <a:spcPts val="400"/>
              </a:spcAft>
              <a:defRPr sz="900">
                <a:solidFill>
                  <a:srgbClr val="475569"/>
                </a:solidFill>
                <a:latin typeface="Segoe UI"/>
              </a:defRPr>
            </a:pPr>
            <a:r>
              <a:t>• Class Diagram Structure (Figure 10.1): Implements robust OOP principles with classes: Vehicle, StopCheckpoint, ProofOfService, CitizenComplaint, DriverUser, and SupervisorAdmin.</a:t>
            </a:r>
          </a:p>
          <a:p>
            <a:pPr>
              <a:spcAft>
                <a:spcPts val="400"/>
              </a:spcAft>
              <a:defRPr sz="900">
                <a:solidFill>
                  <a:srgbClr val="475569"/>
                </a:solidFill>
                <a:latin typeface="Segoe UI"/>
              </a:defRPr>
            </a:pPr>
            <a:r>
              <a:t>• Sequence Diagram (Figure 10.2): Captures chronological message passing between Driver App, API Gateway, Haversine Validator, Database, and Supervisor Dashboard.</a:t>
            </a:r>
          </a:p>
          <a:p>
            <a:pPr>
              <a:spcAft>
                <a:spcPts val="400"/>
              </a:spcAft>
              <a:defRPr sz="900">
                <a:solidFill>
                  <a:srgbClr val="475569"/>
                </a:solidFill>
                <a:latin typeface="Segoe UI"/>
              </a:defRPr>
            </a:pPr>
            <a:r>
              <a:t>• Activity &amp; State Models (Figures 10.3 &amp; 10.4): Traces driver operational branching (Accessible vs Blocked) and checkpoint lifecycle states (Scheduled -&gt; In Progress -&gt; Collected / Skipped).</a:t>
            </a:r>
          </a:p>
          <a:p>
            <a:pPr>
              <a:spcAft>
                <a:spcPts val="400"/>
              </a:spcAft>
              <a:defRPr sz="900">
                <a:solidFill>
                  <a:srgbClr val="475569"/>
                </a:solidFill>
                <a:latin typeface="Segoe UI"/>
              </a:defRPr>
            </a:pPr>
            <a:r>
              <a:t>• Component &amp; Deployment Models (Figures 10.5 &amp; 10.6): Maps logical software components across physical runtime nodes (Driver Phone, Cloud Node.js Server, Database).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114800" cy="29260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2563EB"/>
                </a:solidFill>
                <a:latin typeface="Segoe UI"/>
              </a:defRPr>
            </a:pPr>
            <a:r>
              <a:t>12 | TESTING &amp;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System Testing &amp; Validation: Quality Assurance Suite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98448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  <a:latin typeface="Segoe UI"/>
              </a:defRPr>
            </a:pPr>
            <a:r>
              <a:t>Saikiran Bora (Roll No: A24126510006) | Branch: CSE, ANITS  •  CivicClean GIS: GPS Fleet Tracking &amp; Route Verification Platform  •  Slide 13 of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508760"/>
          <a:ext cx="749808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011680"/>
                <a:gridCol w="2194560"/>
                <a:gridCol w="1737360"/>
                <a:gridCol w="731520"/>
              </a:tblGrid>
              <a:tr h="49784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3A8A"/>
                          </a:solidFill>
                          <a:latin typeface="Segoe UI"/>
                        </a:defRPr>
                      </a:pPr>
                      <a:r>
                        <a:t>TC ID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3A8A"/>
                          </a:solidFill>
                          <a:latin typeface="Segoe UI"/>
                        </a:defRPr>
                      </a:pPr>
                      <a:r>
                        <a:t>Test Case Objective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3A8A"/>
                          </a:solidFill>
                          <a:latin typeface="Segoe UI"/>
                        </a:defRPr>
                      </a:pPr>
                      <a:r>
                        <a:t>Input Conditions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3A8A"/>
                          </a:solidFill>
                          <a:latin typeface="Segoe UI"/>
                        </a:defRPr>
                      </a:pPr>
                      <a:r>
                        <a:t>Observed Output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3A8A"/>
                          </a:solidFill>
                          <a:latin typeface="Segoe UI"/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TC01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Valid Role Authentication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EmpID: EMP-088, Pass: Valid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Redirects to Supervisor GIS Map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TC02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Invalid Credentials Handling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EmpID: EMP-088, Pass: Wrong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Access Denied; clear error message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TC03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Live GPS Telemetry Update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Lat: 17.8974, Lng: 83.4485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Truck marker moves; 24 km/h logged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TC04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Geofenced Proof Collection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Proximity: 5m &lt;= 15m radius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Stop marked 'Collected'; proof stored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TC05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Out-of-Bounds Block Check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Proximity: 450m &gt; 15m radius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Blocks collection; error alert shown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TC06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Structured Skip Stop Log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Reason: Road excavation logged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Stop flagged 'Skipped'; red icon on map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TC07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Citizen Grievance Submission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Name, Phone, GPS Pin, Photo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Ticket generated (CMP-2026-106)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TC08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Live Ticket Status Tracking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Ticket ID: CMP-2026-104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3-stage timeline rendered correctly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412480" y="1508760"/>
            <a:ext cx="3047695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400"/>
              </a:spcAft>
              <a:defRPr sz="1200" b="1">
                <a:solidFill>
                  <a:srgbClr val="1E3A8A"/>
                </a:solidFill>
                <a:latin typeface="Segoe UI"/>
              </a:defRPr>
            </a:pPr>
            <a:r>
              <a:t>Quality Assurance Metrics</a:t>
            </a:r>
          </a:p>
          <a:p>
            <a:pPr>
              <a:spcAft>
                <a:spcPts val="6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• 100% Test Pass Rate: All 8 core system test cases executed with zero defects across modules.</a:t>
            </a:r>
          </a:p>
          <a:p>
            <a:pPr>
              <a:spcAft>
                <a:spcPts val="6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• Sub-250ms API Latency: Stateless REST endpoints respond in under 250ms under concurrent requests.</a:t>
            </a:r>
          </a:p>
          <a:p>
            <a:pPr>
              <a:spcAft>
                <a:spcPts val="6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• Sub-10m GPS Precision: Field testing confirmed high-precision geofencing matching using smartphone A-GPS.</a:t>
            </a:r>
          </a:p>
          <a:p>
            <a:pPr>
              <a:spcAft>
                <a:spcPts val="600"/>
              </a:spcAft>
              <a:defRPr sz="950">
                <a:solidFill>
                  <a:srgbClr val="475569"/>
                </a:solidFill>
                <a:latin typeface="Segoe UI"/>
              </a:defRPr>
            </a:pPr>
            <a:r>
              <a:t>• Boundary Edge Testing: Verified basis paths for boundary violations (&gt;15m) and offline local storage buffering.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114800" cy="29260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2563EB"/>
                </a:solidFill>
                <a:latin typeface="Segoe UI"/>
              </a:defRPr>
            </a:pPr>
            <a:r>
              <a:t>13 | JUSTIFICATION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Comparative Analysis: Solution 2 Strategic Justification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98448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  <a:latin typeface="Segoe UI"/>
              </a:defRPr>
            </a:pPr>
            <a:r>
              <a:t>Saikiran Bora (Roll No: A24126510006) | Branch: CSE, ANITS  •  CivicClean GIS: GPS Fleet Tracking &amp; Route Verification Platform  •  Slide 14 of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508760"/>
          <a:ext cx="10728655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2743200"/>
                <a:gridCol w="2743200"/>
                <a:gridCol w="2773375"/>
              </a:tblGrid>
              <a:tr h="49149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3A8A"/>
                          </a:solidFill>
                          <a:latin typeface="Segoe UI"/>
                        </a:defRPr>
                      </a:pPr>
                      <a:r>
                        <a:t>Evaluation Criteria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3A8A"/>
                          </a:solidFill>
                          <a:latin typeface="Segoe UI"/>
                        </a:defRPr>
                      </a:pPr>
                      <a:r>
                        <a:t>Legacy Manual System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3A8A"/>
                          </a:solidFill>
                          <a:latin typeface="Segoe UI"/>
                        </a:defRPr>
                      </a:pPr>
                      <a:r>
                        <a:t>IoT Hardware Sensor (Sol 1)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CivicClean GIS (Sol 2 - Proposed)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Hardware Procurement 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Zero (Paper sheets)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Extremely High (Rs. 5,000 / bin)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ZERO (Uses existing smartphones)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Vandalism &amp; Theft Risk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Not Applicable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High Risk (Stolen / Damaged sensors)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ZERO RISK (Hardware stays with driver)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Maintenance &amp; Battery Overhead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Low (Manual)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Very High (Recurring battery swaps)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LOW (Over-the-air web app updates)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Proof-of-Service Verification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0% (Paper falsification common)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Partial (Detects fill level only)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100% (GPS + Geotagged Photo Proof)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Obstruction / Skip Logging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None (Bins bypassed silently)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None (Sensors cannot detect obstacles)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Automated (Categorized driver reasons)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Citizen Engagement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Nil (Delayed phone complaints)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Nil (Closed hardware network)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Direct Active Crowdsourcing Portal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Municipal Scalability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Inherently Inefficient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Difficult (Requires physical installs)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INSTANT (Deployable across any ward)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" y="5623560"/>
            <a:ext cx="10728655" cy="594360"/>
          </a:xfrm>
          <a:prstGeom prst="roundRect">
            <a:avLst/>
          </a:prstGeom>
          <a:solidFill>
            <a:srgbClr val="ECFDF5"/>
          </a:solidFill>
          <a:ln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065F46"/>
                </a:solidFill>
                <a:latin typeface="Segoe UI"/>
              </a:defRPr>
            </a:pPr>
            <a:r>
              <a:t>CONCLUSION: Solution 2 delivers 100% of smart city tracking benefits at &lt;5% of the cost of physical sensor deployments!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114800" cy="29260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2563EB"/>
                </a:solidFill>
                <a:latin typeface="Segoe UI"/>
              </a:defRPr>
            </a:pPr>
            <a:r>
              <a:t>14 | LIMITATIONS &amp;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Limitations &amp; Engineering Roadmap: Path to Future Scale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98448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  <a:latin typeface="Segoe UI"/>
              </a:defRPr>
            </a:pPr>
            <a:r>
              <a:t>Saikiran Bora (Roll No: A24126510006) | Branch: CSE, ANITS  •  CivicClean GIS: GPS Fleet Tracking &amp; Route Verification Platform  •  Slide 15 of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52578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400"/>
              </a:spcAft>
              <a:defRPr sz="1200" b="1">
                <a:solidFill>
                  <a:srgbClr val="B45309"/>
                </a:solidFill>
                <a:latin typeface="Segoe UI"/>
              </a:defRPr>
            </a:pPr>
            <a:r>
              <a:t>Current Operational Limitations</a:t>
            </a:r>
          </a:p>
          <a:p>
            <a:pPr>
              <a:spcAft>
                <a:spcPts val="600"/>
              </a:spcAft>
              <a:defRPr sz="1000">
                <a:solidFill>
                  <a:srgbClr val="475569"/>
                </a:solidFill>
                <a:latin typeface="Segoe UI"/>
              </a:defRPr>
            </a:pPr>
            <a:r>
              <a:t>• Driver Smartphone Dependency: Fleet tracking is contingent on driver device battery life and keeping location permissions active during the shift.</a:t>
            </a:r>
          </a:p>
          <a:p>
            <a:pPr>
              <a:spcAft>
                <a:spcPts val="600"/>
              </a:spcAft>
              <a:defRPr sz="1000">
                <a:solidFill>
                  <a:srgbClr val="475569"/>
                </a:solidFill>
                <a:latin typeface="Segoe UI"/>
              </a:defRPr>
            </a:pPr>
            <a:r>
              <a:t>• Cellular Network Dead Zones: Temporary 4G signal loss in deep valleys or peripheral coastal alleys pauses real-time telemetry streaming (buffered locally).</a:t>
            </a:r>
          </a:p>
          <a:p>
            <a:pPr>
              <a:spcAft>
                <a:spcPts val="600"/>
              </a:spcAft>
              <a:defRPr sz="1000">
                <a:solidFill>
                  <a:srgbClr val="475569"/>
                </a:solidFill>
                <a:latin typeface="Segoe UI"/>
              </a:defRPr>
            </a:pPr>
            <a:r>
              <a:t>• Absence of Direct Weight Scales: Because bins lack physical load cells, collected garbage weights rely on driver visual estimation or volumetric heuristics.</a:t>
            </a:r>
          </a:p>
          <a:p>
            <a:pPr>
              <a:spcAft>
                <a:spcPts val="600"/>
              </a:spcAft>
              <a:defRPr sz="1000">
                <a:solidFill>
                  <a:srgbClr val="475569"/>
                </a:solidFill>
                <a:latin typeface="Segoe UI"/>
              </a:defRPr>
            </a:pPr>
            <a:r>
              <a:t>• Compliance Reliance: Requires driver cooperation to tap 'Mark Collected' and upload photo proof at every scheduled checkpoint.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578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400"/>
              </a:spcAft>
              <a:defRPr sz="1200" b="1">
                <a:solidFill>
                  <a:srgbClr val="1E3A8A"/>
                </a:solidFill>
                <a:latin typeface="Segoe UI"/>
              </a:defRPr>
            </a:pPr>
            <a:r>
              <a:t>Future Engineering Enhancements</a:t>
            </a:r>
          </a:p>
          <a:p>
            <a:pPr>
              <a:spcAft>
                <a:spcPts val="600"/>
              </a:spcAft>
              <a:defRPr sz="1000">
                <a:solidFill>
                  <a:srgbClr val="475569"/>
                </a:solidFill>
                <a:latin typeface="Segoe UI"/>
              </a:defRPr>
            </a:pPr>
            <a:r>
              <a:t>• Offline-First PWA Synchronization: Implement SQLite / IndexedDB client caching so full shift telemetry and photos sync seamlessly when connectivity resumes.</a:t>
            </a:r>
          </a:p>
          <a:p>
            <a:pPr>
              <a:spcAft>
                <a:spcPts val="600"/>
              </a:spcAft>
              <a:defRPr sz="1000">
                <a:solidFill>
                  <a:srgbClr val="475569"/>
                </a:solidFill>
                <a:latin typeface="Segoe UI"/>
              </a:defRPr>
            </a:pPr>
            <a:r>
              <a:t>• Computer Vision (YOLOv8) AI: Automatically analyze driver collection photos using deep learning to verify bin fullness percentage and classify waste segregation.</a:t>
            </a:r>
          </a:p>
          <a:p>
            <a:pPr>
              <a:spcAft>
                <a:spcPts val="600"/>
              </a:spcAft>
              <a:defRPr sz="1000">
                <a:solidFill>
                  <a:srgbClr val="475569"/>
                </a:solidFill>
                <a:latin typeface="Segoe UI"/>
              </a:defRPr>
            </a:pPr>
            <a:r>
              <a:t>• Dynamic Route Optimization (VRP): Integrate Vehicle Routing Problem (VRP) algorithms to dynamically reorder stops based on live traffic and citizen hotspot reports.</a:t>
            </a:r>
          </a:p>
          <a:p>
            <a:pPr>
              <a:spcAft>
                <a:spcPts val="600"/>
              </a:spcAft>
              <a:defRPr sz="1000">
                <a:solidFill>
                  <a:srgbClr val="475569"/>
                </a:solidFill>
                <a:latin typeface="Segoe UI"/>
              </a:defRPr>
            </a:pPr>
            <a:r>
              <a:t>• Automated Municipal WhatsApp Bot: Allow residents to report garbage overflow via WhatsApp photo sharing with automated geolocation extraction.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Conclusion: Transforming Municipal Waste Logistics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A complete, verifiable, zero-hardware smart city software platform delivering real civic impact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3474720" cy="26517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spcAft>
                <a:spcPts val="600"/>
              </a:spcAft>
              <a:defRPr sz="1200" b="1">
                <a:solidFill>
                  <a:srgbClr val="3B82F6"/>
                </a:solidFill>
                <a:latin typeface="Segoe UI"/>
              </a:defRPr>
            </a:pPr>
            <a:r>
              <a:t>Full-Stack GIS Web Platform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Segoe UI"/>
              </a:defRPr>
            </a:pPr>
            <a:r>
              <a:t>• Node.js &amp; Express REST Backend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Segoe UI"/>
              </a:defRPr>
            </a:pPr>
            <a:r>
              <a:t>• Leaflet.js &amp; OpenStreetMap Canvas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Segoe UI"/>
              </a:defRPr>
            </a:pPr>
            <a:r>
              <a:t>• Live Telemetry &amp; Audit Trail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Segoe UI"/>
              </a:defRPr>
            </a:pPr>
            <a:r>
              <a:t>• Running on: http://localhost:3000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691640"/>
            <a:ext cx="3474720" cy="26517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spcAft>
                <a:spcPts val="600"/>
              </a:spcAft>
              <a:defRPr sz="1200" b="1">
                <a:solidFill>
                  <a:srgbClr val="10B981"/>
                </a:solidFill>
                <a:latin typeface="Segoe UI"/>
              </a:defRPr>
            </a:pPr>
            <a:r>
              <a:t>Streamlit Community Cloud App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Segoe UI"/>
              </a:defRPr>
            </a:pPr>
            <a:r>
              <a:t>• Streamlit + Folium Interactive App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Segoe UI"/>
              </a:defRPr>
            </a:pPr>
            <a:r>
              <a:t>• Mobile-friendly Driver Manifest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Segoe UI"/>
              </a:defRPr>
            </a:pPr>
            <a:r>
              <a:t>• Public Citizen Grievance Portal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Segoe UI"/>
              </a:defRPr>
            </a:pPr>
            <a:r>
              <a:t>• GitHub: saikiranbora25-byte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0" y="1691640"/>
            <a:ext cx="3474720" cy="26517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spcAft>
                <a:spcPts val="600"/>
              </a:spcAft>
              <a:defRPr sz="1200" b="1">
                <a:solidFill>
                  <a:srgbClr val="F59E0B"/>
                </a:solidFill>
                <a:latin typeface="Segoe UI"/>
              </a:defRPr>
            </a:pPr>
            <a:r>
              <a:t>Academic Mini Project Report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Segoe UI"/>
              </a:defRPr>
            </a:pPr>
            <a:r>
              <a:t>• 8,123-word Comprehensive Book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Segoe UI"/>
              </a:defRPr>
            </a:pPr>
            <a:r>
              <a:t>• Strict ANITS Template Compliance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Segoe UI"/>
              </a:defRPr>
            </a:pPr>
            <a:r>
              <a:t>• 11 Tables &amp; 20 Embedded Figures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Segoe UI"/>
              </a:defRPr>
            </a:pPr>
            <a:r>
              <a:t>• Formatted for Spiral Binding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572000"/>
            <a:ext cx="10728655" cy="169164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/>
          <a:lstStyle/>
          <a:p>
            <a:pPr algn="ctr">
              <a:spcAft>
                <a:spcPts val="400"/>
              </a:spcAft>
              <a:defRPr sz="2200" b="1">
                <a:solidFill>
                  <a:srgbClr val="38BDF8"/>
                </a:solidFill>
                <a:latin typeface="Segoe UI"/>
              </a:defRPr>
            </a:pPr>
            <a:r>
              <a:t>THANK YOU!</a:t>
            </a:r>
          </a:p>
          <a:p>
            <a:pPr algn="ctr">
              <a:spcAft>
                <a:spcPts val="40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Questions &amp; Technical Discussion Welcome</a:t>
            </a:r>
          </a:p>
          <a:p>
            <a:pPr algn="ctr">
              <a:defRPr sz="1000">
                <a:solidFill>
                  <a:srgbClr val="94A3B8"/>
                </a:solidFill>
                <a:latin typeface="Segoe UI"/>
              </a:defRPr>
            </a:pPr>
            <a:r>
              <a:t>SAIKIRAN BORA (Roll No: A24126510006) | Branch: CSE, Section - A | ANITS (Autonomous), Visakhapatnam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