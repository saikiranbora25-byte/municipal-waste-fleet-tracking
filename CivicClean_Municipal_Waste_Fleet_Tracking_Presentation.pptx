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nit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75488"/>
            <a:ext cx="1143000" cy="1171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48840" y="45720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2E8F0"/>
                </a:solidFill>
                <a:latin typeface="Segoe UI"/>
              </a:defRPr>
            </a:pPr>
            <a:r>
              <a:t>ANIL NEERUKONDA INSTITUTE OF TECHNOLOGY AND SCIENCES (UGC AUTONOMOUS)</a:t>
            </a:r>
          </a:p>
          <a:p>
            <a:pPr>
              <a:defRPr sz="1000" b="1">
                <a:solidFill>
                  <a:srgbClr val="93C5FD"/>
                </a:solidFill>
                <a:latin typeface="Segoe UI"/>
              </a:defRPr>
            </a:pPr>
            <a:r>
              <a:t>DEPARTMENT OF COMPUTER SCIENCE AND ENGINEERING | 23CS4219 - SOFTWARE ENGINEERING 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64208"/>
            <a:ext cx="47548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FDBFE"/>
                </a:solidFill>
                <a:latin typeface="Segoe UI"/>
              </a:defRPr>
            </a:pPr>
            <a:r>
              <a:t>MINI PROJECT APPLICATION &amp; TECHNICAL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66543"/>
            <a:ext cx="10515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GPS-Based Fleet Tracking &amp; Route Verification System</a:t>
            </a:r>
            <a:br/>
            <a:r>
              <a:t>for Municipal Solid Waste Management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Hardware-Free, Software-Only Smart Waste Logistics &amp; Proof-of-Service Verification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5120640" cy="2423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DEVELOPER &amp; PRESENTER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Candidate Name:  SAIKIRAN BORA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Roll Number:  A24126510006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Branch / Degree:  Computer Science &amp; Engineering (B.Tech)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Class &amp; Section:  III Year, I Semester, Section - A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Institution:  ANITS (Anil Neerukonda Inst of Tech &amp; Sci)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120640" cy="2423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34D399"/>
                </a:solidFill>
                <a:latin typeface="Segoe UI"/>
              </a:defRPr>
            </a:pPr>
            <a:r>
              <a:t>ACADEMIC SUPERVISION &amp; GUIDANCE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Faculty Guide:  Prof. A. Rohini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Designation:  Faculty Incharge, Dept. of CSE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Head of Department:  Prof. G. Srinivas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Designation:  HOD &amp; Professor, Dept. of CSE, ANITS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Academic Year:  2026 - 2027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01 | DOMAIN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Introduction: Urban Solid Waste Management Realities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Urban Waste Generation Scale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Rapid urban growth in cities generates over 500 metric tons of garbage every day.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Spans dense residential colonies, busy commercial zones, and narrow alleys.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Requires synchronized dispatch of municipal collection trucks every single morning.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36192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Public Health &amp; Civic Hygiene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Overflowing secondary garbage bins emit severe odors and create public hazards.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Accelerates vector-borne disease outbreaks like dengue, malaria, and cholera.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Unchecked toxic leachate fluid contaminates storm drains and underground water.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36192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3. High Operational Expenditure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Municipal corporations spend 35% to 40% of their total annual budget on waste logistics.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Fuel consumption and truck fleet maintenance represent heavy daily expenses.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Manual pen-and-paper tracking leads to huge financial waste and missed pickups.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02 |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Statement: Breakdown of Conventional Manual Logistics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3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25780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Static, Inflexible Route Sheets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Collection trucks follow rigid, paper-based schedules. Vehicles are dispatched blindly without knowing which bins are actually overflowing or already serviced.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36192"/>
            <a:ext cx="525780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Zero Route Verifiability &amp; Accountability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Sanitation supervisors have NO digital proof or timestamped logs to verify whether a driver actually emptied a scheduled bin or completely bypassed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67911"/>
            <a:ext cx="525780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Substantial Fuel &amp; Fleet Wastage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Compactor trucks burn expensive diesel visiting empty bins, while heavily overflowing market checkpoints remain untouched, causing major resource waste.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67911"/>
            <a:ext cx="525780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Reactive &amp; Informal Grievance Loop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Citizens discover missed pickups only after days of overflow. Complaints are handled via informal phone calls that lack ticket numbers or resolution proof.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03 |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Root Cause Analysis: Why Previous IoT Hardware Approaches Failed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4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2578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The Fallacy of Dedicated IoT Hardware (Solution 1)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Prohibitive Capital Cost: Fitting thousands of physical sensors across roadside bins costs millions in municipal funds.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Rampant Public Vandalism: Outdoor sensors are stolen, damaged by scavengers, or smashed by hydraulic truck compactor arms.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Harsh Environmental Damage: Acidic garbage leachate, heavy monsoon rain, and toxic gases rapidly destroy electronic circuitry.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Battery Replacement Burden: Swapping batteries across thousands of scattered city bins creates an unmanageable maintenance 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36192"/>
            <a:ext cx="52578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The Core Root Cause Identified</a:t>
            </a:r>
          </a:p>
          <a:p>
            <a:pPr>
              <a:spcAft>
                <a:spcPts val="1000"/>
              </a:spcAft>
              <a:defRPr sz="1250" b="1">
                <a:solidFill>
                  <a:srgbClr val="1E3A8A"/>
                </a:solidFill>
                <a:latin typeface="Segoe UI"/>
              </a:defRPr>
            </a:pPr>
            <a:r>
              <a:t>Municipal solid waste management fails NOT because roadside bins lack chips, but because there is NO real-time digital feedback loop connecting trucks, drivers, supervisors, and citizens.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Missing Proof of Service: Paper log sheets allow post-shift falsification with zero physical verifiability.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No Obstruction Logging: When roads are blocked by construction, drivers bypass bins with no recorded reason.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The Strategic Takeaway: A pure software-only system delivers 100% verifiability and tracking without spending a single rupee on in-bin hardware!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04 |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Solution: Zero-Hardware Smart Waste Logistics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5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E3A8A"/>
                </a:solidFill>
                <a:latin typeface="Segoe UI"/>
              </a:defRPr>
            </a:pPr>
            <a:r>
              <a:t>STRATEGIC PARADIGM SHIFT: Eliminating 100% of Physical In-Bin Sensors by Utilizing Commodity Smartphones &amp; Web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2578608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Smartphone Telemetry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Drivers use existing Android/iOS phones mounted inside the truck cab.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Continuous GPS streaming of real-time coordinates, speed, and heading.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Zero vehicle retrofitting or dedicated OBD hardware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240280"/>
            <a:ext cx="2578608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Geofenced Verification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Haversine proximity checks vehicle distance to target bin coordinates.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Camera photo capture unlocks ONLY when within 15 meters of the bin.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Creates immutable, tamper-resistant proof timestamps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240280"/>
            <a:ext cx="2578608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3. Citizen Crowdsourcing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Residents act as distributed sensors for citywide bin fill monitoring.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Geotagged photo reports with one-click GPS pin placement on phone.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Completely replaces costly physical ultrasonic level sensors.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240280"/>
            <a:ext cx="2578608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4. Transparent Exceptions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Drivers log structured skip reasons when facing road excavation or blocks.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Instantly flags checkpoints on supervisor GIS map for audit review.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Segoe UI"/>
              </a:defRPr>
            </a:pPr>
            <a:r>
              <a:t>â¢ Distinguishes between legitimate impediments and driver negligence.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05 |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Architecture: End-to-End Enterprise Web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6 of 16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669280" cy="35888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508760"/>
            <a:ext cx="4876495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Tier 1: Presentation Layer (Client Portals)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â¢ Supervisor Command Hub: Desktop GIS dashboard with Leaflet map &amp; telemetry.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â¢ Driver Mobile Manifest: Touch-friendly PWA for single-hand cab operation.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â¢ Public Citizen Portal: Responsive portal for reporting overflowing garbage.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063239"/>
            <a:ext cx="4876495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Tier 2: Application Layer (Node.js &amp; Express)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â¢ REST API Gateway: High-performance endpoints for vehicle and stop data.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â¢ Geofencing Engine: Mathematical 15m radius proximity validation.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â¢ Grievance Engine: Auto-assigns complaint tickets and tracks clearance.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617720"/>
            <a:ext cx="4876495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Tier 3: Persistence Layer (Data &amp; Audit)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â¢ Fleet State Store: Real-time coordinate cache for sub-second map updates.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â¢ Ward Route Store: Pre-mapped checkpoint waypoints and collection quotas.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â¢ Audit Trail: Immutable historical log of all verified collections and skips.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06 |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Operational Workflow &amp; Telemetry 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7 of 16</a:t>
            </a:r>
          </a:p>
        </p:txBody>
      </p:sp>
      <p:pic>
        <p:nvPicPr>
          <p:cNvPr id="7" name="Picture 6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669280" cy="35888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508760"/>
            <a:ext cx="487649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End-to-End Information Pipeline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Telemetry Streaming: Driver smartphone GPS broadcasts current coordinates and speed to the Node.js server every 5 seconds.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Spatial Geofence Matching: Backend continuously checks truck coordinates against scheduled ward stops using the Haversine equation.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Proof-of-Service Verification: When truck is within 15 meters, the driver captures photo proof. The system cryptographically stamps time and coordinates.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Citizen Redressal Synchronization: Residents log bin overflow tickets with GPS coordinates; resolved tickets update automatically upon vehicle clearance.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Supervisor Audit &amp; KPI Aggregation: Computes real-time route completion percentages, missed pickups, and total daily waste tonnage collected.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07 | SUPERVISOR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Module 1: Supervisor Real-Time GIS Fleet Command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8 of 16</a:t>
            </a:r>
          </a:p>
        </p:txBody>
      </p:sp>
      <p:pic>
        <p:nvPicPr>
          <p:cNvPr id="7" name="Picture 6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852160" cy="36058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508760"/>
            <a:ext cx="469361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Centralized Municipal Fleet Control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Live Interactive GIS Map: Renders OpenStreetMap canvas with color-coded stop checkpoints (Green: Collected, Amber: Next, Gray: Pending, Red: Skipped).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Active Vehicle Telemetry: Displays truck speed (e.g. 24 km/h), vehicle heading, driver identity, and GPS satellite lock status in real time.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Ward Route Progress Gauge: Computes route completion dynamically (e.g. 4/6 Stops Collected - 67%) with live cumulative waste payload tally.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Immediate Anomaly Alerts: Instantly flags delays, unauthorized route deviations, or bypassed stops for supervisor intervention.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08 | DRIVER FIELD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Module 2: Driver Touch-Optimized Mobile Manifest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9 of 16</a:t>
            </a:r>
          </a:p>
        </p:txBody>
      </p:sp>
      <p:pic>
        <p:nvPicPr>
          <p:cNvPr id="7" name="Picture 6" descr="screenshot_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852160" cy="36058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508760"/>
            <a:ext cx="469361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Field Driver Interface &amp; Workflows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Cab-Friendly Touch UI: Designed with large tap targets for effortless one-hand operation on drivers' commodity smartphones.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GPS Satellite Status Banner: Continuously monitors active GNSS satellite connection and displays location precision (e.g. Â±4m accuracy).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Dynamic Route Progress: Live completion progress bar updates instantly upon every verified pickup (e.g., 2 of 6 Stops Completed - 33%).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15m Geofenced Proof Capture: The 'Mark Collected' button unlocks ONLY when the vehicle is physically within 15 meters of the scheduled bin.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Structured Exception Logging: When encountering road blockages or construction, drivers log verified skip reasons (e.g., Narrow Lane, Excavation).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09 | CITIZEN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Module 3: Citizen Crowdsourced Waste Grievance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10 of 16</a:t>
            </a:r>
          </a:p>
        </p:txBody>
      </p:sp>
      <p:pic>
        <p:nvPicPr>
          <p:cNvPr id="7" name="Picture 6" descr="screenshot_citiz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852160" cy="36058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508760"/>
            <a:ext cx="469361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Citizen Empowerment &amp; Tracking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One-Tap GPS Pin Drop: Residents mark overflowing public bins or illegal garbage heaps using their phone's exact GPS coordinates.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Photo Evidence Upload: Allows citizens to attach photos of uncollected waste for supervisory verification and dispatch triage.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Live 3-Stage Ticket Tracker: Unique complaint ID (e.g. #CMP-2026-104) shows real-time progress: Submitted -&gt; Truck Dispatched -&gt; Clearance Verified.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Public Collection Roster: Displays daily pickup schedules and assigned compactor trucks across wards to prevent premature bin dumping.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10 | PROOF-OF-SERVICE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Proof-of-Service Engine: Geofencing &amp; Tamper-Resistant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11 of 16</a:t>
            </a:r>
          </a:p>
        </p:txBody>
      </p:sp>
      <p:pic>
        <p:nvPicPr>
          <p:cNvPr id="7" name="Picture 6" descr="screenshot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852160" cy="36058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508760"/>
            <a:ext cx="469361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Geospatial Proximity &amp; Integrity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Haversine Distance Validation: Calculates great-circle distance between truck GPS and bin location. Collection is permitted ONLY when d &lt;= 15.0 meters.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Immutable Audit Trail Logging: Every collection and skip event records timestamp, vehicle registration, driver identity, and GPS tolerance accuracy (e.g., '5 meters - VALID').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Elimination of Ghost Collections: Completely prevents post-shift log falsification; drivers must be physically present with geotagged photo proof.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Structured Exception Review: Bypassed bins are categorized with driver remarks and flagged in red on the supervisor map for administrative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11 |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Design: Role-Based Actor Interaction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12 of 16</a:t>
            </a:r>
          </a:p>
        </p:txBody>
      </p:sp>
      <p:pic>
        <p:nvPicPr>
          <p:cNvPr id="7" name="Picture 6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486400" cy="39037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508760"/>
            <a:ext cx="505937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Stakeholder Roles &amp; Core Capabilities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Field Driver Role: Receives digital route manifest, validates pickup via 15m geofencing, captures camera photos, and logs road obstruction skips.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Sanitation Supervisor Role: Monitors real-time vehicle fleet on GIS map, conducts route replays, reviews skipped stops, and validates daily completion KPIs.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Citizen Stakeholder Role: Submits geotagged garbage complaints with photos, tracks ticket resolution progress, and views ward collection schedules.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Automated Platform Engine: Enforces spatial geofence boundaries, processes live GPS telemetry, dispatches tickets, and generates tamper-resistant audit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12 | 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Validation &amp; Quality Assurance Test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13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74980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011680"/>
                <a:gridCol w="2194560"/>
                <a:gridCol w="1737360"/>
                <a:gridCol w="73152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TC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Test Case Objective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Input Conditions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Observed Output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TC01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Role-Based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EmpID: EMP-088, Valid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Access granted to GIS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TC02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Live GPS Telemetry Stream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Lat: 17.8974, Lng: 83.4485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Vehicle marker moves at 24 km/h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TC03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Geofenced Proof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Proximity: 5m &lt;= 15m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Stop marked 'Collected' with photo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TC04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Out-of-Bounds Block Check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Proximity: 450m &gt; 15m radius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Action blocked; alert displayed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TC05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Citizen Grievance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Name, GPS Pin, Overflow Photo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Ticket generated (#CMP-2026-106)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12480" y="1508760"/>
            <a:ext cx="304769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Quality Assurance Benchmarks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100% Test Pass Rate: All primary operational workflows executed with zero defects across modules.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Sub-250ms API Latency: Stateless REST endpoints respond in under 250ms under concurrent requests.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Sub-10m GPS Precision: Field testing confirmed high-accuracy geofencing using commodity smartphone A-GPS.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Edge Case Handling: Verified out-of-bounds rejection, camera permission denial, and offline retry logic.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13 | JUSTIFICATION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Comparative Analysis: Solution 2 Strategic Justification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14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743200"/>
                <a:gridCol w="2773375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Evaluation Criteria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Legacy Manual System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IoT Hardware Sensor (Sol 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CivicClean GIS (Sol 2 - Proposed)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Hardware Procurement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Zero (Paper sheets)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Extremely High (Rs. 5,000 / bin)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ZERO (Uses existing smartphones)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Vandalism &amp; Theft Risk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Not Applicable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High Risk (Stolen / Damaged sensors)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ZERO RISK (Hardware stays with driver)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Maintenance &amp; Battery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Low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Very High (Recurring battery swaps)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LOW (Over-the-air web app updates)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Proof-of-Service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0% (Paper falsification common)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Partial (Detects fill level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100% (GPS + Geotagged Photo Proof)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Obstruction / Skip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None (Bins bypassed silently)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None (Sensors cannot detect obstacles)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Automated (Categorized driver reasons)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Citizen Engagement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Nil (Delayed phone complaints)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Nil (Closed hardware network)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Direct Active Crowdsourcing Portal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Municipal Scalability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Inherently Inefficient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Difficult (Requires physical installs)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INSTANT (Deployable across any ward)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715000"/>
            <a:ext cx="10728655" cy="5486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CONCLUSION: Solution 2 delivers 100% of smart city tracking benefits at &lt;5% of the cost of physical sensor deployments!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14 | LIMITATIONS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Limitations &amp; Engineering Roadmap: Path to Future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Saikiran Bora (Roll No: A24126510006) | Branch: CSE, ANITS  •  CivicClean GIS: GPS Fleet Tracking &amp; Route Verification Platform  •  Slide 15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2578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B45309"/>
                </a:solidFill>
                <a:latin typeface="Segoe UI"/>
              </a:defRPr>
            </a:pPr>
            <a:r>
              <a:t>Current Operational Boundaries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Driver Smartphone Dependency: Fleet tracking relies on the driver's device battery life and active location permissions during the shift.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Cellular Network Dead Zones: Temporary 4G signal loss in deep valleys or peripheral alleys pauses real-time telemetry streaming (buffered locally).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Absence of Direct Weight Scales: Because bins lack physical load cells, collected garbage weights rely on driver visual estimation or volumetric heuristics.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Operator Compliance Reliance: Requires driver cooperation to tap 'Mark Collected' and upload photo proof at every scheduled checkpoint.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36192"/>
            <a:ext cx="52578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Future Engineering Roadmap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Offline-First PWA Synchronization: Implement SQLite / IndexedDB client caching so full shift telemetry and photos sync seamlessly when connectivity resumes.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Computer Vision (YOLOv8) AI: Automatically analyze driver collection photos using deep learning to verify bin fullness percentage and classify waste segregation.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Dynamic Route Optimization (VRP): Integrate Vehicle Routing Problem (VRP) algorithms to dynamically reorder stops based on live traffic and citizen hotspot reports.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â¢ Automated Municipal WhatsApp Bot: Allow residents to report garbage overflow via WhatsApp photo sharing with automated geolocation extraction.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Conclusion: Transforming Municipal Waste Logistics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complete, verifiable, zero-hardware smart city software platform delivering real civic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74720" cy="2651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Full-Stack GIS Web Platform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Node.js &amp; Express REST Backend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Leaflet.js &amp; OpenStreetMap Canvas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Live Telemetry &amp; Audit Trail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Running on: http://localhost:3000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91640"/>
            <a:ext cx="3474720" cy="2651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Streamlit Community Cloud App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Streamlit + Folium Interactive App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Mobile-friendly Driver Manifest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Public Citizen Grievance Portal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GitHub: saikiranbora25-byte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91640"/>
            <a:ext cx="3474720" cy="2651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Academic Mini Project Report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8,123-word Comprehensive Book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Strict ANITS Template Compliance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11 Tables &amp; 20 Embedded Figures</a:t>
            </a:r>
          </a:p>
          <a:p>
            <a:pPr>
              <a:spcAft>
                <a:spcPts val="3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â¢ Formatted for Spiral Binding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728655" cy="1691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spcAft>
                <a:spcPts val="400"/>
              </a:spcAft>
              <a:defRPr sz="2400" b="1">
                <a:solidFill>
                  <a:srgbClr val="38BDF8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Questions &amp; Technical Discussion Welcome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SAIKIRAN BORA (Roll No: A24126510006) | Branch: CSE, Section - A | ANITS (Autonomous), Visakhapatnam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