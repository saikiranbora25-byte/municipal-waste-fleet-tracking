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59952" y="-1207008"/>
            <a:ext cx="4764024" cy="4764024"/>
          </a:xfrm>
          <a:prstGeom prst="ellipse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02952" y="4059936"/>
            <a:ext cx="2852928" cy="2852928"/>
          </a:xfrm>
          <a:prstGeom prst="ellipse">
            <a:avLst/>
          </a:prstGeom>
          <a:solidFill>
            <a:srgbClr val="217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ni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594360"/>
            <a:ext cx="1097280" cy="11245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713232"/>
            <a:ext cx="7872983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A4C2D7"/>
                </a:solidFill>
                <a:latin typeface="Aptos"/>
              </a:defRPr>
            </a:pPr>
            <a:r>
              <a:t>SOFTWARE ENGINEERING  |  MINI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371600"/>
            <a:ext cx="8887968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ptos Display"/>
              </a:defRPr>
            </a:pPr>
            <a:r>
              <a:t>CIVICCLEAN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40280"/>
            <a:ext cx="8257031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>
                <a:solidFill>
                  <a:srgbClr val="F0E4D9"/>
                </a:solidFill>
                <a:latin typeface="Aptos"/>
              </a:defRPr>
            </a:pPr>
            <a:r>
              <a:t>GPS Fleet Tracking &amp; Route Verification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  <a:latin typeface="Aptos"/>
              </a:defRPr>
            </a:pPr>
            <a:r>
              <a:t>A browser-based, zero-hardware platform for municipal solid waste logistics, driver verification, and citizen grievances.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657600"/>
            <a:ext cx="5486400" cy="13716"/>
          </a:xfrm>
          <a:prstGeom prst="rect">
            <a:avLst/>
          </a:prstGeom>
          <a:solidFill>
            <a:srgbClr val="A4C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88620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Aptos"/>
              </a:defRPr>
            </a:pPr>
            <a:r>
              <a:t>Saikiran Bora  |  A24126510006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4340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0E4D9"/>
                </a:solidFill>
                <a:latin typeface="Aptos"/>
              </a:defRPr>
            </a:pPr>
            <a:r>
              <a:t>Department of Computer Science and Engineering  •  ANITS (UGC Autonomous)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0916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0E4D9"/>
                </a:solidFill>
                <a:latin typeface="Aptos"/>
              </a:defRPr>
            </a:pPr>
            <a:r>
              <a:t>B.Tech III Year, Section - A  •  Course: 23CS4219 Software Engineering Lab  •  2026–2027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0749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0E4D9"/>
                </a:solidFill>
                <a:latin typeface="Aptos"/>
              </a:defRPr>
            </a:pPr>
            <a:r>
              <a:t>Project Guide: Prof. A. Rohini (Faculty Incharge)  •  HOD: Prof. G. Srinivas (Dept. of CSE)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92240"/>
            <a:ext cx="1041501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4C2D7"/>
                </a:solidFill>
                <a:latin typeface="Aptos"/>
              </a:defRPr>
            </a:pPr>
            <a:r>
              <a:t>ZERO-HARDWARE ARCHITECTURE  •  COMMODITY SMARTPHONE SENSING &amp; 15M GEOFENCING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65760"/>
            <a:ext cx="10917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2240"/>
                </a:solidFill>
                <a:latin typeface="Aptos"/>
              </a:defRPr>
            </a:pPr>
            <a:r>
              <a:t>Municipal waste problem, objectives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F6870"/>
                </a:solidFill>
                <a:latin typeface="Aptos"/>
              </a:defRPr>
            </a:pPr>
            <a:r>
              <a:t>The platform brings real-time fleet tracking, proof-of-service verification and citizen grievance logging into one browser application.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6382512"/>
            <a:ext cx="10972800" cy="13716"/>
          </a:xfrm>
          <a:prstGeom prst="rect">
            <a:avLst/>
          </a:prstGeom>
          <a:solidFill>
            <a:srgbClr val="CCD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446520"/>
            <a:ext cx="888796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F6870"/>
                </a:solidFill>
                <a:latin typeface="Aptos"/>
              </a:defRPr>
            </a:pPr>
            <a:r>
              <a:t>CIVICCLEAN  |  GPS FLEET TRACKING &amp; ROUTE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870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508760"/>
            <a:ext cx="3520440" cy="169164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Limited visibility</a:t>
            </a:r>
          </a:p>
          <a:p>
            <a:pPr>
              <a:defRPr sz="1200">
                <a:solidFill>
                  <a:srgbClr val="242A30"/>
                </a:solidFill>
                <a:latin typeface="Aptos"/>
              </a:defRPr>
            </a:pPr>
            <a:r>
              <a:t>Supervisors cannot verify truck locations, speed or bin coverage in real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508760"/>
            <a:ext cx="3520440" cy="169164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Manual operations</a:t>
            </a:r>
          </a:p>
          <a:p>
            <a:pPr>
              <a:defRPr sz="1200">
                <a:solidFill>
                  <a:srgbClr val="242A30"/>
                </a:solidFill>
                <a:latin typeface="Aptos"/>
              </a:defRPr>
            </a:pPr>
            <a:r>
              <a:t>Paper sheets permit post-shift falsification with zero verifiability of actual visits.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508760"/>
            <a:ext cx="3520440" cy="169164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Disconnected loop</a:t>
            </a:r>
          </a:p>
          <a:p>
            <a:pPr>
              <a:defRPr sz="1200">
                <a:solidFill>
                  <a:srgbClr val="242A30"/>
                </a:solidFill>
                <a:latin typeface="Aptos"/>
              </a:defRPr>
            </a:pPr>
            <a:r>
              <a:t>Residents discover unserviced bins days later with no formal tracking channel.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3383280"/>
            <a:ext cx="537667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Implemented (Solution 2)</a:t>
            </a:r>
          </a:p>
          <a:p>
            <a:pPr>
              <a:spcAft>
                <a:spcPts val="2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Real-time GPS fleet tracking on interactive Leaflet GIS map</a:t>
            </a:r>
          </a:p>
          <a:p>
            <a:pPr>
              <a:spcAft>
                <a:spcPts val="2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Touch-optimized driver mobile manifest with 15m geofencing lock</a:t>
            </a:r>
          </a:p>
          <a:p>
            <a:pPr>
              <a:spcAft>
                <a:spcPts val="2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Tamper-resistant proof-of-service logs with coordinate &amp; time hashes</a:t>
            </a:r>
          </a:p>
          <a:p>
            <a:pPr>
              <a:spcAft>
                <a:spcPts val="2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Crowdsourced citizen grievance portal with one-tap phone GPS pin-drop</a:t>
            </a:r>
          </a:p>
          <a:p>
            <a:pPr>
              <a:spcAft>
                <a:spcPts val="2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Public ward collection timetable roster for community visibility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83280"/>
            <a:ext cx="537667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Out of scope (Deliberate Hardware Omission)</a:t>
            </a:r>
          </a:p>
          <a:p>
            <a:pPr>
              <a:spcAft>
                <a:spcPts val="2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No physical ultrasonic level sensors mounted inside roadside bins</a:t>
            </a:r>
          </a:p>
          <a:p>
            <a:pPr>
              <a:spcAft>
                <a:spcPts val="2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No proprietary OBD-II vehicle tracking hardware or dashboard retrofits</a:t>
            </a:r>
          </a:p>
          <a:p>
            <a:pPr>
              <a:spcAft>
                <a:spcPts val="2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No dedicated LoRaWAN gateways or physical transmission towers</a:t>
            </a:r>
          </a:p>
          <a:p>
            <a:pPr>
              <a:spcAft>
                <a:spcPts val="2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No vehicle weighbridge hardware (relies on driver volumetric heuristics)</a:t>
            </a:r>
          </a:p>
          <a:p>
            <a:pPr>
              <a:spcAft>
                <a:spcPts val="2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No multi-instance database in demo (single-process in-memory store)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5897880"/>
            <a:ext cx="10927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40"/>
                </a:solidFill>
                <a:latin typeface="Aptos"/>
              </a:rPr>
              <a:t>Boundary: </a:t>
            </a:r>
            <a:r>
              <a:rPr sz="1200">
                <a:solidFill>
                  <a:srgbClr val="242A30"/>
                </a:solidFill>
                <a:latin typeface="Aptos"/>
              </a:rPr>
              <a:t>all tracked coordinates utilize driver smartphone GPS and web APIs—requiring zero hardware sensors mounted on physical bins.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65760"/>
            <a:ext cx="10917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2240"/>
                </a:solidFill>
                <a:latin typeface="Aptos"/>
              </a:defRPr>
            </a:pPr>
            <a:r>
              <a:t>The IoT sensor fallacy vs. software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F6870"/>
                </a:solidFill>
                <a:latin typeface="Aptos"/>
              </a:defRPr>
            </a:pPr>
            <a:r>
              <a:t>Why dedicated hardware in-bin sensors consistently fail in municipal deployments, and why software solves the root cause.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6382512"/>
            <a:ext cx="10972800" cy="13716"/>
          </a:xfrm>
          <a:prstGeom prst="rect">
            <a:avLst/>
          </a:prstGeom>
          <a:solidFill>
            <a:srgbClr val="CCD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446520"/>
            <a:ext cx="888796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F6870"/>
                </a:solidFill>
                <a:latin typeface="Aptos"/>
              </a:defRPr>
            </a:pPr>
            <a:r>
              <a:t>CIVICCLEAN  |  GPS FLEET TRACKING &amp; ROUTE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870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508760"/>
            <a:ext cx="5376672" cy="42062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B91C1C"/>
                </a:solidFill>
                <a:latin typeface="Aptos"/>
              </a:defRPr>
            </a:pPr>
            <a:r>
              <a:t>The Fallacy of Dedicated IoT Hardware (Solution 1)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Prohibitive Capital Outlay (CapEx): Procuring thousands of ultrasonic level sensors and LoRa gateways costs crores in municipal funds (≈ ₹5,000 per bin).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Rampant Vandalism &amp; Theft: Sensors mounted in public roadside bins are stolen by scavengers or smashed by hydraulic compactor arms during lifting.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Corrosive Chemical Damage: Acidic leachate fluids, heavy monsoon moisture, and methane gas rapidly corrode exposed electronic circuitry.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Crushing Battery Maintenance (OpEx): Replacing lithium batteries across thousands of dispersed city bins creates an unsustainable recurring operational burden.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08760"/>
            <a:ext cx="5376672" cy="4206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166534"/>
                </a:solidFill>
                <a:latin typeface="Aptos"/>
              </a:defRPr>
            </a:pPr>
            <a:r>
              <a:t>The Software-First Reality (Solution 2 - Proposed)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Zero Hardware Procurement Cost: Leverages drivers' existing commodity Android/iOS smartphones already carried inside the truck cab.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Protected Environmental Envelope: The sensing device remains safely inside the vehicle cab, 100% immune to trash leachate, weather, and roadside vandalism.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Over-The-Air Software Updates: Zero physical bin visits or battery swaps required; application updates deploy instantly across all vehicles via web standards.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Crowdsourced Civic Sensing: Citizens act as distributed visual sensors, reporting overflowing bins with phone cameras and GPS pins for targeted collection.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897880"/>
            <a:ext cx="10927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40"/>
                </a:solidFill>
                <a:latin typeface="Aptos"/>
              </a:rPr>
              <a:t>Root Cause: </a:t>
            </a:r>
            <a:r>
              <a:rPr sz="1200">
                <a:solidFill>
                  <a:srgbClr val="242A30"/>
                </a:solidFill>
                <a:latin typeface="Aptos"/>
              </a:rPr>
              <a:t>Municipal solid waste collection fails due to the lack of a real-time digital feedback loop—not a lack of electronic chips in bins.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65760"/>
            <a:ext cx="10917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2240"/>
                </a:solidFill>
                <a:latin typeface="Aptos"/>
              </a:defRPr>
            </a:pPr>
            <a:r>
              <a:t>Strategic justification: Solution 1 vs. Solution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F6870"/>
                </a:solidFill>
                <a:latin typeface="Aptos"/>
              </a:defRPr>
            </a:pPr>
            <a:r>
              <a:t>Comprehensive engineering and financial evaluation of hardware sensors versus driver-centric GPS tracking.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6382512"/>
            <a:ext cx="10972800" cy="13716"/>
          </a:xfrm>
          <a:prstGeom prst="rect">
            <a:avLst/>
          </a:prstGeom>
          <a:solidFill>
            <a:srgbClr val="CCD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446520"/>
            <a:ext cx="888796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F6870"/>
                </a:solidFill>
                <a:latin typeface="Aptos"/>
              </a:defRPr>
            </a:pPr>
            <a:r>
              <a:t>CIVICCLEAN  |  GPS FLEET TRACKING &amp; ROUTE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870"/>
                </a:solidFill>
                <a:latin typeface="Aptos"/>
              </a:defRPr>
            </a:pPr>
            <a: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" y="1508760"/>
          <a:ext cx="109728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560320"/>
                <a:gridCol w="2926080"/>
                <a:gridCol w="3017520"/>
              </a:tblGrid>
              <a:tr h="520065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D2240"/>
                          </a:solidFill>
                          <a:latin typeface="Aptos"/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D8E7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D2240"/>
                          </a:solidFill>
                          <a:latin typeface="Aptos"/>
                        </a:defRPr>
                      </a:pPr>
                      <a:r>
                        <a:t>Legacy Manual System</a:t>
                      </a:r>
                    </a:p>
                  </a:txBody>
                  <a:tcPr>
                    <a:solidFill>
                      <a:srgbClr val="D8E7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D2240"/>
                          </a:solidFill>
                          <a:latin typeface="Aptos"/>
                        </a:defRPr>
                      </a:pPr>
                      <a:r>
                        <a:t>IoT Bin Sensors (Solution 1)</a:t>
                      </a:r>
                    </a:p>
                  </a:txBody>
                  <a:tcPr>
                    <a:solidFill>
                      <a:srgbClr val="D8E7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CivicClean Software (Solution 2)</a:t>
                      </a:r>
                    </a:p>
                  </a:txBody>
                  <a:tcPr>
                    <a:solidFill>
                      <a:srgbClr val="366F91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Hardware Procurement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Zero (Paper sheets)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Extremely High (₹5,000 / bin)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66F91"/>
                          </a:solidFill>
                          <a:latin typeface="Aptos"/>
                        </a:defRPr>
                      </a:pPr>
                      <a:r>
                        <a:t>ZERO (Uses existing smartphones)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Vandalism &amp; Theft Risk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Not Applicable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High Risk (Stolen / smashed)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66F91"/>
                          </a:solidFill>
                          <a:latin typeface="Aptos"/>
                        </a:defRPr>
                      </a:pPr>
                      <a:r>
                        <a:t>ZERO RISK (Device stays in truck cab)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Maintenance &amp; Battery Overhead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Low (Manual entry)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Very High (Recurring battery swaps)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66F91"/>
                          </a:solidFill>
                          <a:latin typeface="Aptos"/>
                        </a:defRPr>
                      </a:pPr>
                      <a:r>
                        <a:t>LOW (Over-the-air web app updates)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Proof-of-Service Verification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0% (Paper falsification common)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Partial (Detects fill level only)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66F91"/>
                          </a:solidFill>
                          <a:latin typeface="Aptos"/>
                        </a:defRPr>
                      </a:pPr>
                      <a:r>
                        <a:t>100% (15m GPS + Photo Proof)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Obstruction / Skip Logging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None (Bins bypassed silently)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None (Sensors cannot detect obstacles)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66F91"/>
                          </a:solidFill>
                          <a:latin typeface="Aptos"/>
                        </a:defRPr>
                      </a:pPr>
                      <a:r>
                        <a:t>Automated (Categorized driver reasons)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Citizen Engagement Channel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Nil (Delayed phone complaints)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Nil (Closed hardware network)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66F91"/>
                          </a:solidFill>
                          <a:latin typeface="Aptos"/>
                        </a:defRPr>
                      </a:pPr>
                      <a:r>
                        <a:t>Direct Active Crowdsourcing Portal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Municipal Ward Scalability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Inherently Inefficient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Difficult (Requires physical installs)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66F91"/>
                          </a:solidFill>
                          <a:latin typeface="Aptos"/>
                        </a:defRPr>
                      </a:pPr>
                      <a:r>
                        <a:t>INSTANT (Deployable across any ward)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1792" y="5897880"/>
            <a:ext cx="10927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40"/>
                </a:solidFill>
                <a:latin typeface="Aptos"/>
              </a:rPr>
              <a:t>Justification: </a:t>
            </a:r>
            <a:r>
              <a:rPr sz="1200">
                <a:solidFill>
                  <a:srgbClr val="242A30"/>
                </a:solidFill>
                <a:latin typeface="Aptos"/>
              </a:rPr>
              <a:t>Solution 2 delivers 100% of municipal route verifiability at &lt;5% of the capital expenditure of physical sensor deployments.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65760"/>
            <a:ext cx="10917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2240"/>
                </a:solidFill>
                <a:latin typeface="Aptos"/>
              </a:defRPr>
            </a:pPr>
            <a:r>
              <a:t>A single platform with three operating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F6870"/>
                </a:solidFill>
                <a:latin typeface="Aptos"/>
              </a:defRPr>
            </a:pPr>
            <a:r>
              <a:t>Driver mobile manifest, supervisor GIS command hub, and public citizen portal sharing a unified data model.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6382512"/>
            <a:ext cx="10972800" cy="13716"/>
          </a:xfrm>
          <a:prstGeom prst="rect">
            <a:avLst/>
          </a:prstGeom>
          <a:solidFill>
            <a:srgbClr val="CCD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446520"/>
            <a:ext cx="888796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F6870"/>
                </a:solidFill>
                <a:latin typeface="Aptos"/>
              </a:defRPr>
            </a:pPr>
            <a:r>
              <a:t>CIVICCLEAN  |  GPS FLEET TRACKING &amp; ROUTE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870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508760"/>
            <a:ext cx="3520440" cy="420624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366F91"/>
                </a:solidFill>
                <a:latin typeface="Aptos"/>
              </a:defRPr>
            </a:pPr>
            <a:r>
              <a:t>Field Driver Manifest</a:t>
            </a:r>
          </a:p>
          <a:p>
            <a:pPr>
              <a:spcAft>
                <a:spcPts val="600"/>
              </a:spcAft>
              <a:defRPr sz="1200" b="1">
                <a:solidFill>
                  <a:srgbClr val="0D2240"/>
                </a:solidFill>
                <a:latin typeface="Aptos"/>
              </a:defRPr>
            </a:pPr>
            <a:r>
              <a:t>Touch-optimized mobile PWA for drivers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â¢ Continuous GPS satellite accuracy lock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â¢ 15m geofenced collection verification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â¢ One-tap camera photo evidence capture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â¢ Structured road skip exception logging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â¢ Dynamic route completion percentage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508760"/>
            <a:ext cx="3520440" cy="420624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217B92"/>
                </a:solidFill>
                <a:latin typeface="Aptos"/>
              </a:defRPr>
            </a:pPr>
            <a:r>
              <a:t>Supervisor Command Hub</a:t>
            </a:r>
          </a:p>
          <a:p>
            <a:pPr>
              <a:spcAft>
                <a:spcPts val="600"/>
              </a:spcAft>
              <a:defRPr sz="1200" b="1">
                <a:solidFill>
                  <a:srgbClr val="0D2240"/>
                </a:solidFill>
                <a:latin typeface="Aptos"/>
              </a:defRPr>
            </a:pPr>
            <a:r>
              <a:t>Desktop GIS monitoring &amp; auditing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â¢ Interactive Leaflet map with truck telemetry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â¢ Real-time speed (24 km/h) &amp; heading display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â¢ Dynamic ward collection completion gauge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â¢ Instant route deviation &amp; delay alerts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â¢ Immutable tamper-resistant audit trail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508760"/>
            <a:ext cx="3520440" cy="420624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Citizen Grievance Portal</a:t>
            </a:r>
          </a:p>
          <a:p>
            <a:pPr>
              <a:spcAft>
                <a:spcPts val="600"/>
              </a:spcAft>
              <a:defRPr sz="1200" b="1">
                <a:solidFill>
                  <a:srgbClr val="0D2240"/>
                </a:solidFill>
                <a:latin typeface="Aptos"/>
              </a:defRPr>
            </a:pPr>
            <a:r>
              <a:t>Public crowdsourced accountability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â¢ One-tap smartphone GPS pin-drop placement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â¢ Overflowing garbage photo evidence upload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â¢ 3-stage live ticket tracker (#CMP-2026-104)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â¢ Public ward collection timetable roster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â¢ Frictionless submission (zero login wall)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897880"/>
            <a:ext cx="10927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40"/>
                </a:solidFill>
                <a:latin typeface="Aptos"/>
              </a:rPr>
              <a:t>Security Boundary: </a:t>
            </a:r>
            <a:r>
              <a:rPr sz="1200">
                <a:solidFill>
                  <a:srgbClr val="242A30"/>
                </a:solidFill>
                <a:latin typeface="Aptos"/>
              </a:rPr>
              <a:t>Drivers and citizens access role-specific views; only authenticated sanitation supervisors access administrative audit logs.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65760"/>
            <a:ext cx="10917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2240"/>
                </a:solidFill>
                <a:latin typeface="Aptos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F6870"/>
                </a:solidFill>
                <a:latin typeface="Aptos"/>
              </a:defRPr>
            </a:pPr>
            <a:r>
              <a:t>Layered Node.js application utilizing browser-native client interfaces, RESTful services, and an in-memory telemetry state store.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6382512"/>
            <a:ext cx="10972800" cy="13716"/>
          </a:xfrm>
          <a:prstGeom prst="rect">
            <a:avLst/>
          </a:prstGeom>
          <a:solidFill>
            <a:srgbClr val="CCD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446520"/>
            <a:ext cx="888796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F6870"/>
                </a:solidFill>
                <a:latin typeface="Aptos"/>
              </a:defRPr>
            </a:pPr>
            <a:r>
              <a:t>CIVICCLEAN  |  GPS FLEET TRACKING &amp; ROUTE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870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463040"/>
            <a:ext cx="2606040" cy="109728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36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Client UI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HTML5 • CSS3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Vanilla JS • Leaflet GIS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1463040"/>
            <a:ext cx="2606040" cy="109728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36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HTTP Server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Node.js built-ins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Express REST API Gateway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1" y="1463040"/>
            <a:ext cx="2606040" cy="109728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36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Domain Logic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Haversine Geofencing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Proof &amp; Exception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1" y="1463040"/>
            <a:ext cx="2606040" cy="109728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36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State Store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In-Memory Telemetry Cache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Immutable Audit Log Store</a:t>
            </a:r>
          </a:p>
        </p:txBody>
      </p:sp>
      <p:pic>
        <p:nvPicPr>
          <p:cNvPr id="12" name="Picture 11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697480"/>
            <a:ext cx="5349240" cy="338621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17920" y="2697480"/>
            <a:ext cx="5376672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Deployment &amp; Runtime Boundary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Containerized Docker / Node.js 20+ runtime with sub-250ms API latency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Responsive single-codebase web application accessible on any Android/iOS browser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Lightweight in-memory telemetry state engine for sub-second GPS position caching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Cloud-ready architecture easily deployed to Streamlit Community Cloud or Render</a:t>
            </a:r>
          </a:p>
          <a:p>
            <a:pPr>
              <a:spcAft>
                <a:spcPts val="4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Strict client-server boundary: vehicle sensors operate strictly on client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5897880"/>
            <a:ext cx="10927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40"/>
                </a:solidFill>
                <a:latin typeface="Aptos"/>
              </a:rPr>
              <a:t>Architectural Trade-off: </a:t>
            </a:r>
            <a:r>
              <a:rPr sz="1200">
                <a:solidFill>
                  <a:srgbClr val="242A30"/>
                </a:solidFill>
                <a:latin typeface="Aptos"/>
              </a:rPr>
              <a:t>In-memory store provides sub-millisecond vehicle updates; production scaling bridges to PostgreSQL/PostGIS.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65760"/>
            <a:ext cx="10917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2240"/>
                </a:solidFill>
                <a:latin typeface="Aptos"/>
              </a:defRPr>
            </a:pPr>
            <a:r>
              <a:t>Two core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F6870"/>
                </a:solidFill>
                <a:latin typeface="Aptos"/>
              </a:defRPr>
            </a:pPr>
            <a:r>
              <a:t>Driver collection manifest tracks physical route progress; citizen grievance portal crowdsources unserviced hotspots.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6382512"/>
            <a:ext cx="10972800" cy="13716"/>
          </a:xfrm>
          <a:prstGeom prst="rect">
            <a:avLst/>
          </a:prstGeom>
          <a:solidFill>
            <a:srgbClr val="CCD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446520"/>
            <a:ext cx="888796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F6870"/>
                </a:solidFill>
                <a:latin typeface="Aptos"/>
              </a:defRPr>
            </a:pPr>
            <a:r>
              <a:t>CIVICCLEAN  |  GPS FLEET TRACKING &amp; ROUTE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870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4173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66F91"/>
                </a:solidFill>
                <a:latin typeface="Aptos"/>
              </a:defRPr>
            </a:pPr>
            <a:r>
              <a:t>FIELD COLLECTION &amp; PROOF-OF-SERVICE WORKFLOW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737360"/>
            <a:ext cx="2423160" cy="132588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36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350" b="1">
                <a:solidFill>
                  <a:srgbClr val="0D2240"/>
                </a:solidFill>
                <a:latin typeface="Aptos"/>
              </a:defRPr>
            </a:pPr>
            <a:r>
              <a:t>1  Dispatch truck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Driver starts shift;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GPS stream begins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0672" y="2286000"/>
            <a:ext cx="274320" cy="182880"/>
          </a:xfrm>
          <a:prstGeom prst="rightArrow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0712" y="1737360"/>
            <a:ext cx="2423160" cy="132588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36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350" b="1">
                <a:solidFill>
                  <a:srgbClr val="0D2240"/>
                </a:solidFill>
                <a:latin typeface="Aptos"/>
              </a:defRPr>
            </a:pPr>
            <a:r>
              <a:t>2  Arrive at bin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Haversine check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validates &lt;=15m radius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2286000"/>
            <a:ext cx="274320" cy="182880"/>
          </a:xfrm>
          <a:prstGeom prst="rightArrow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99631" y="1737360"/>
            <a:ext cx="2423160" cy="132588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36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350" b="1">
                <a:solidFill>
                  <a:srgbClr val="0D2240"/>
                </a:solidFill>
                <a:latin typeface="Aptos"/>
              </a:defRPr>
            </a:pPr>
            <a:r>
              <a:t>3  Verify service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Photo capture unlocks;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proof hash recorded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68512" y="2286000"/>
            <a:ext cx="274320" cy="182880"/>
          </a:xfrm>
          <a:prstGeom prst="rightArrow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88551" y="1737360"/>
            <a:ext cx="2423160" cy="132588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36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350" b="1">
                <a:solidFill>
                  <a:srgbClr val="0D2240"/>
                </a:solidFill>
                <a:latin typeface="Aptos"/>
              </a:defRPr>
            </a:pPr>
            <a:r>
              <a:t>4  Update status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Stop turns green;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route counter advances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3337560"/>
            <a:ext cx="10972800" cy="13716"/>
          </a:xfrm>
          <a:prstGeom prst="rect">
            <a:avLst/>
          </a:prstGeom>
          <a:solidFill>
            <a:srgbClr val="CCD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5204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17B92"/>
                </a:solidFill>
                <a:latin typeface="Aptos"/>
              </a:defRPr>
            </a:pPr>
            <a:r>
              <a:t>CITIZEN GRIEVANCE REDRESSAL WORKFLOW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3840480"/>
            <a:ext cx="2423160" cy="132588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217B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350" b="1">
                <a:solidFill>
                  <a:srgbClr val="0D2240"/>
                </a:solidFill>
                <a:latin typeface="Aptos"/>
              </a:defRPr>
            </a:pPr>
            <a:r>
              <a:t>1  Pin location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Citizen drops GPS pin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on phone browser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090672" y="4389120"/>
            <a:ext cx="274320" cy="182880"/>
          </a:xfrm>
          <a:prstGeom prst="rightArrow">
            <a:avLst/>
          </a:prstGeom>
          <a:solidFill>
            <a:srgbClr val="217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410712" y="3840480"/>
            <a:ext cx="2423160" cy="132588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217B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350" b="1">
                <a:solidFill>
                  <a:srgbClr val="0D2240"/>
                </a:solidFill>
                <a:latin typeface="Aptos"/>
              </a:defRPr>
            </a:pPr>
            <a:r>
              <a:t>2  Upload photo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Photo evidence attached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with garbage category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879592" y="4389120"/>
            <a:ext cx="274320" cy="182880"/>
          </a:xfrm>
          <a:prstGeom prst="rightArrow">
            <a:avLst/>
          </a:prstGeom>
          <a:solidFill>
            <a:srgbClr val="217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99631" y="3840480"/>
            <a:ext cx="2423160" cy="132588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217B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350" b="1">
                <a:solidFill>
                  <a:srgbClr val="0D2240"/>
                </a:solidFill>
                <a:latin typeface="Aptos"/>
              </a:defRPr>
            </a:pPr>
            <a:r>
              <a:t>3  Ticket issued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Tracking ticket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#CMP-2026-104 generated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668512" y="4389120"/>
            <a:ext cx="274320" cy="182880"/>
          </a:xfrm>
          <a:prstGeom prst="rightArrow">
            <a:avLst/>
          </a:prstGeom>
          <a:solidFill>
            <a:srgbClr val="217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88551" y="3840480"/>
            <a:ext cx="2423160" cy="132588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217B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350" b="1">
                <a:solidFill>
                  <a:srgbClr val="0D2240"/>
                </a:solidFill>
                <a:latin typeface="Aptos"/>
              </a:defRPr>
            </a:pPr>
            <a:r>
              <a:t>4  Verified close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Truck cleans location;</a:t>
            </a:r>
          </a:p>
          <a:p>
            <a:pPr>
              <a:defRPr sz="1100">
                <a:solidFill>
                  <a:srgbClr val="242A30"/>
                </a:solidFill>
                <a:latin typeface="Aptos"/>
              </a:defRPr>
            </a:pPr>
            <a:r>
              <a:t>timeline marks resolved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5897880"/>
            <a:ext cx="10927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40"/>
                </a:solidFill>
                <a:latin typeface="Aptos"/>
              </a:rPr>
              <a:t>Operational Sync: </a:t>
            </a:r>
            <a:r>
              <a:rPr sz="1200">
                <a:solidFill>
                  <a:srgbClr val="242A30"/>
                </a:solidFill>
                <a:latin typeface="Aptos"/>
              </a:rPr>
              <a:t>Citizen overflow reports dynamically flag adjacent checkpoints on the active supervisor manifest.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65760"/>
            <a:ext cx="10917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2240"/>
                </a:solidFill>
                <a:latin typeface="Aptos"/>
              </a:defRPr>
            </a:pPr>
            <a:r>
              <a:t>Proof-of-service &amp; geofencing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F6870"/>
                </a:solidFill>
                <a:latin typeface="Aptos"/>
              </a:defRPr>
            </a:pPr>
            <a:r>
              <a:t>Mathematical proximity enforcement eliminates ghost trips and guarantees authentic physical waste collection.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6382512"/>
            <a:ext cx="10972800" cy="13716"/>
          </a:xfrm>
          <a:prstGeom prst="rect">
            <a:avLst/>
          </a:prstGeom>
          <a:solidFill>
            <a:srgbClr val="CCD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446520"/>
            <a:ext cx="888796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F6870"/>
                </a:solidFill>
                <a:latin typeface="Aptos"/>
              </a:defRPr>
            </a:pPr>
            <a:r>
              <a:t>CIVICCLEAN  |  GPS FLEET TRACKING &amp; ROUTE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870"/>
                </a:solidFill>
                <a:latin typeface="Aptos"/>
              </a:defRPr>
            </a:pPr>
            <a:r>
              <a:t>07</a:t>
            </a:r>
          </a:p>
        </p:txBody>
      </p:sp>
      <p:pic>
        <p:nvPicPr>
          <p:cNvPr id="8" name="Picture 7" descr="screenshot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08760"/>
            <a:ext cx="5349240" cy="329599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508760"/>
            <a:ext cx="537667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Geospatial Proximity &amp; Integrity Verification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Mathematical Proximity Enforcement: Great-circle distance d is computed in real time between the truck GPS and scheduled bin coordinates. Collection is strictly LOCKED if d &gt; 15.0 meters.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Immutable Audit Trail Logging: Every collection and skip event records timestamp, vehicle registration, driver identity, and GPS tolerance accuracy (e.g., '5 meters - VALID').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Elimination of Service Falsification: Completely prevents post-shift log fabrication or collection claims from home; drivers must be physically co-located at the bin with photo proof.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Structured Exception Audits: When access is blocked, drivers select verified skip categories (Road Excavation, Lane Blocked) which are flagged in red for supervisor audit.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897880"/>
            <a:ext cx="10927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40"/>
                </a:solidFill>
                <a:latin typeface="Aptos"/>
              </a:rPr>
              <a:t>Verification Rule: </a:t>
            </a:r>
            <a:r>
              <a:rPr sz="1200">
                <a:solidFill>
                  <a:srgbClr val="242A30"/>
                </a:solidFill>
                <a:latin typeface="Aptos"/>
              </a:rPr>
              <a:t>Driver collection action is cryptographically blocked unless Haversine distance d &lt;= 15.0 meters from scheduled bin.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65760"/>
            <a:ext cx="10917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2240"/>
                </a:solidFill>
                <a:latin typeface="Aptos"/>
              </a:defRPr>
            </a:pPr>
            <a:r>
              <a:t>Module 1: Supervisor GIS command 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F6870"/>
                </a:solidFill>
                <a:latin typeface="Aptos"/>
              </a:defRPr>
            </a:pPr>
            <a:r>
              <a:t>Real-time OpenStreetMap canvas displaying live vehicle telemetry, dynamic route completion, and operational alerts.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6382512"/>
            <a:ext cx="10972800" cy="13716"/>
          </a:xfrm>
          <a:prstGeom prst="rect">
            <a:avLst/>
          </a:prstGeom>
          <a:solidFill>
            <a:srgbClr val="CCD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446520"/>
            <a:ext cx="888796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F6870"/>
                </a:solidFill>
                <a:latin typeface="Aptos"/>
              </a:defRPr>
            </a:pPr>
            <a:r>
              <a:t>CIVICCLEAN  |  GPS FLEET TRACKING &amp; ROUTE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870"/>
                </a:solidFill>
                <a:latin typeface="Aptos"/>
              </a:defRPr>
            </a:pPr>
            <a:r>
              <a:t>08</a:t>
            </a:r>
          </a:p>
        </p:txBody>
      </p:sp>
      <p:pic>
        <p:nvPicPr>
          <p:cNvPr id="8" name="Picture 7" descr="screensho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08760"/>
            <a:ext cx="5669280" cy="349319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37960" y="1508760"/>
            <a:ext cx="505663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Centralized Municipal Fleet Control</a:t>
            </a:r>
          </a:p>
          <a:p>
            <a:pPr>
              <a:spcAft>
                <a:spcPts val="8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Interactive GIS Map Canvas: Renders OpenStreetMap canvas with color-coded stop checkpoints (Green: Collected, Amber: Next, Gray: Pending, Red: Skipped).</a:t>
            </a:r>
          </a:p>
          <a:p>
            <a:pPr>
              <a:spcAft>
                <a:spcPts val="8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Real-Time Vehicle Telemetry: Displays truck speed (e.g. 24 km/h), vehicle heading, driver identity, and GPS satellite lock status in real time.</a:t>
            </a:r>
          </a:p>
          <a:p>
            <a:pPr>
              <a:spcAft>
                <a:spcPts val="8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Dynamic Route Progress Gauge: Computes route completion dynamically (e.g. 4 of 6 Stops Collected - 67%) with live cumulative waste payload tally.</a:t>
            </a:r>
          </a:p>
          <a:p>
            <a:pPr>
              <a:spcAft>
                <a:spcPts val="8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Immediate Anomaly Alerts: Instantly flags delays, unauthorized route deviations, or bypassed stops for supervisor intervention.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897880"/>
            <a:ext cx="10927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40"/>
                </a:solidFill>
                <a:latin typeface="Aptos"/>
              </a:rPr>
              <a:t>Supervisor Benefit: </a:t>
            </a:r>
            <a:r>
              <a:rPr sz="1200">
                <a:solidFill>
                  <a:srgbClr val="242A30"/>
                </a:solidFill>
                <a:latin typeface="Aptos"/>
              </a:rPr>
              <a:t>Eliminates reliance on post-shift verbal claims by visualizing exact vehicle positions, speeds, and stop states.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65760"/>
            <a:ext cx="10917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2240"/>
                </a:solidFill>
                <a:latin typeface="Aptos"/>
              </a:defRPr>
            </a:pPr>
            <a:r>
              <a:t>Module 2: Driver touch-optimized manifest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F6870"/>
                </a:solidFill>
                <a:latin typeface="Aptos"/>
              </a:defRPr>
            </a:pPr>
            <a:r>
              <a:t>Mobile-first web application designed for single-hand truck cab operation with continuous GPS accuracy monitoring.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6382512"/>
            <a:ext cx="10972800" cy="13716"/>
          </a:xfrm>
          <a:prstGeom prst="rect">
            <a:avLst/>
          </a:prstGeom>
          <a:solidFill>
            <a:srgbClr val="CCD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446520"/>
            <a:ext cx="888796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F6870"/>
                </a:solidFill>
                <a:latin typeface="Aptos"/>
              </a:defRPr>
            </a:pPr>
            <a:r>
              <a:t>CIVICCLEAN  |  GPS FLEET TRACKING &amp; ROUTE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870"/>
                </a:solidFill>
                <a:latin typeface="Aptos"/>
              </a:defRPr>
            </a:pPr>
            <a:r>
              <a:t>09</a:t>
            </a:r>
          </a:p>
        </p:txBody>
      </p:sp>
      <p:pic>
        <p:nvPicPr>
          <p:cNvPr id="8" name="Picture 7" descr="screenshot_dri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08760"/>
            <a:ext cx="5669280" cy="349319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37960" y="1508760"/>
            <a:ext cx="505663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Field Driver Interface &amp; Workflows</a:t>
            </a:r>
          </a:p>
          <a:p>
            <a:pPr>
              <a:spcAft>
                <a:spcPts val="8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Cab-Friendly Touch UI: Designed with large tap targets for effortless one-hand operation on drivers' commodity smartphones mounted in the cab.</a:t>
            </a:r>
          </a:p>
          <a:p>
            <a:pPr>
              <a:spcAft>
                <a:spcPts val="8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GNSS Satellite Status Banner: Continuously monitors active satellite connectivity and displays location precision (e.g. ±4m accuracy).</a:t>
            </a:r>
          </a:p>
          <a:p>
            <a:pPr>
              <a:spcAft>
                <a:spcPts val="8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15m Geofenced Proof Capture: The 'Mark Collected' button unlocks ONLY when the vehicle is physically within 15 meters of the scheduled bin.</a:t>
            </a:r>
          </a:p>
          <a:p>
            <a:pPr>
              <a:spcAft>
                <a:spcPts val="8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Structured Exception Workflows: When encountering road blockages or construction, drivers log verified skip reasons (Narrow Lane, Excavation) without penalty.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897880"/>
            <a:ext cx="10927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40"/>
                </a:solidFill>
                <a:latin typeface="Aptos"/>
              </a:rPr>
              <a:t>Driver Experience: </a:t>
            </a:r>
            <a:r>
              <a:rPr sz="1200">
                <a:solidFill>
                  <a:srgbClr val="242A30"/>
                </a:solidFill>
                <a:latin typeface="Aptos"/>
              </a:rPr>
              <a:t>Transparent exception logging protects drivers by recording legitimate road blockages without penalizing performance.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65760"/>
            <a:ext cx="10917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2240"/>
                </a:solidFill>
                <a:latin typeface="Aptos"/>
              </a:defRPr>
            </a:pPr>
            <a:r>
              <a:t>Module 3: Citizen grievance &amp; tracking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F6870"/>
                </a:solidFill>
                <a:latin typeface="Aptos"/>
              </a:defRPr>
            </a:pPr>
            <a:r>
              <a:t>Residents act as intelligent distributed sensors, crowdsourcing bin fill status and tracking complaint redressal.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6382512"/>
            <a:ext cx="10972800" cy="13716"/>
          </a:xfrm>
          <a:prstGeom prst="rect">
            <a:avLst/>
          </a:prstGeom>
          <a:solidFill>
            <a:srgbClr val="CCD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446520"/>
            <a:ext cx="888796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F6870"/>
                </a:solidFill>
                <a:latin typeface="Aptos"/>
              </a:defRPr>
            </a:pPr>
            <a:r>
              <a:t>CIVICCLEAN  |  GPS FLEET TRACKING &amp; ROUTE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870"/>
                </a:solidFill>
                <a:latin typeface="Aptos"/>
              </a:defRPr>
            </a:pPr>
            <a:r>
              <a:t>10</a:t>
            </a:r>
          </a:p>
        </p:txBody>
      </p:sp>
      <p:pic>
        <p:nvPicPr>
          <p:cNvPr id="8" name="Picture 7" descr="screenshot_citiz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08760"/>
            <a:ext cx="5669280" cy="349319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37960" y="1508760"/>
            <a:ext cx="505663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Citizen Empowerment &amp; Transparency</a:t>
            </a:r>
          </a:p>
          <a:p>
            <a:pPr>
              <a:spcAft>
                <a:spcPts val="8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One-Tap GPS Pin Placement: Residents mark overflowing public bins or roadside waste dumps using their smartphone's accurate GPS.</a:t>
            </a:r>
          </a:p>
          <a:p>
            <a:pPr>
              <a:spcAft>
                <a:spcPts val="8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Visual Photo Evidence Upload: Uploads photo proof of uncollected waste for supervisory verification and dispatch triage.</a:t>
            </a:r>
          </a:p>
          <a:p>
            <a:pPr>
              <a:spcAft>
                <a:spcPts val="8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3-Stage Progress Timeline: Unique ticket ID (e.g. #CMP-2026-104) displays live status: Submitted → Dispatched → Resolved.</a:t>
            </a:r>
          </a:p>
          <a:p>
            <a:pPr>
              <a:spcAft>
                <a:spcPts val="8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Public Ward Collection Timetable: Public schedule informs residents of daily collection timings to prevent premature waste dumping.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897880"/>
            <a:ext cx="10927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40"/>
                </a:solidFill>
                <a:latin typeface="Aptos"/>
              </a:rPr>
              <a:t>Citizen Empowerment: </a:t>
            </a:r>
            <a:r>
              <a:rPr sz="1200">
                <a:solidFill>
                  <a:srgbClr val="242A30"/>
                </a:solidFill>
                <a:latin typeface="Aptos"/>
              </a:rPr>
              <a:t>Direct tracking ticket ID (#CMP-2026-104) ensures accountability and transparent municipal service delivery.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65760"/>
            <a:ext cx="10917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2240"/>
                </a:solidFill>
                <a:latin typeface="Aptos"/>
              </a:defRPr>
            </a:pPr>
            <a:r>
              <a:t>Software engineering design &amp; actor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F6870"/>
                </a:solidFill>
                <a:latin typeface="Aptos"/>
              </a:defRPr>
            </a:pPr>
            <a:r>
              <a:t>Object-oriented modeling and use case decomposition ensure strict separation of concerns and scalable code.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6382512"/>
            <a:ext cx="10972800" cy="13716"/>
          </a:xfrm>
          <a:prstGeom prst="rect">
            <a:avLst/>
          </a:prstGeom>
          <a:solidFill>
            <a:srgbClr val="CCD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446520"/>
            <a:ext cx="888796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F6870"/>
                </a:solidFill>
                <a:latin typeface="Aptos"/>
              </a:defRPr>
            </a:pPr>
            <a:r>
              <a:t>CIVICCLEAN  |  GPS FLEET TRACKING &amp; ROUTE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870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8" name="Picture 7" descr="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08760"/>
            <a:ext cx="5349240" cy="380619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508760"/>
            <a:ext cx="537667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Actor Responsibilities &amp; OO Architecture</a:t>
            </a:r>
          </a:p>
          <a:p>
            <a:pPr>
              <a:spcAft>
                <a:spcPts val="8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Field Driver Actor: Interacts via mobile manifest; capabilities include viewing route sequence, geofenced collection proof, and skip reporting.</a:t>
            </a:r>
          </a:p>
          <a:p>
            <a:pPr>
              <a:spcAft>
                <a:spcPts val="8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Sanitation Supervisor Actor: Interacts via GIS command center; monitors real-time fleet, verifies proof photos, and conducts route replays.</a:t>
            </a:r>
          </a:p>
          <a:p>
            <a:pPr>
              <a:spcAft>
                <a:spcPts val="8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Resident / Citizen Actor: Interacts via public web portal; files geotagged grievance tickets and tracks resolution progress.</a:t>
            </a:r>
          </a:p>
          <a:p>
            <a:pPr>
              <a:spcAft>
                <a:spcPts val="8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Autonomous Platform Engine: Ingests GPS telemetry, computes Haversine distances, assigns complaint tickets, and seals audit trails.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897880"/>
            <a:ext cx="10927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40"/>
                </a:solidFill>
                <a:latin typeface="Aptos"/>
              </a:rPr>
              <a:t>Engineering Practice: </a:t>
            </a:r>
            <a:r>
              <a:rPr sz="1200">
                <a:solidFill>
                  <a:srgbClr val="242A30"/>
                </a:solidFill>
                <a:latin typeface="Aptos"/>
              </a:rPr>
              <a:t>Clean boundary separation ensures the geofencing engine remains independent of presentation and storage layers.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65760"/>
            <a:ext cx="10917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2240"/>
                </a:solidFill>
                <a:latin typeface="Aptos"/>
              </a:defRPr>
            </a:pPr>
            <a:r>
              <a:t>System validation &amp; 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F6870"/>
                </a:solidFill>
                <a:latin typeface="Aptos"/>
              </a:defRPr>
            </a:pPr>
            <a:r>
              <a:t>End-to-end verification of authentication, GPS streaming, geofence radius enforcement, and citizen ticket lifecycles.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6382512"/>
            <a:ext cx="10972800" cy="13716"/>
          </a:xfrm>
          <a:prstGeom prst="rect">
            <a:avLst/>
          </a:prstGeom>
          <a:solidFill>
            <a:srgbClr val="CCD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446520"/>
            <a:ext cx="888796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F6870"/>
                </a:solidFill>
                <a:latin typeface="Aptos"/>
              </a:defRPr>
            </a:pPr>
            <a:r>
              <a:t>CIVICCLEAN  |  GPS FLEET TRACKING &amp; ROUTE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870"/>
                </a:solidFill>
                <a:latin typeface="Aptos"/>
              </a:defRPr>
            </a:pPr>
            <a: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" y="1508760"/>
          <a:ext cx="69494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920240"/>
                <a:gridCol w="2011680"/>
                <a:gridCol w="1463040"/>
                <a:gridCol w="731520"/>
              </a:tblGrid>
              <a:tr h="701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D2240"/>
                          </a:solidFill>
                          <a:latin typeface="Aptos"/>
                        </a:defRPr>
                      </a:pPr>
                      <a:r>
                        <a:t>TC ID</a:t>
                      </a:r>
                    </a:p>
                  </a:txBody>
                  <a:tcPr>
                    <a:solidFill>
                      <a:srgbClr val="D8E7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D2240"/>
                          </a:solidFill>
                          <a:latin typeface="Aptos"/>
                        </a:defRPr>
                      </a:pPr>
                      <a:r>
                        <a:t>Test Case Objective</a:t>
                      </a:r>
                    </a:p>
                  </a:txBody>
                  <a:tcPr>
                    <a:solidFill>
                      <a:srgbClr val="D8E7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D2240"/>
                          </a:solidFill>
                          <a:latin typeface="Aptos"/>
                        </a:defRPr>
                      </a:pPr>
                      <a:r>
                        <a:t>Input Conditions</a:t>
                      </a:r>
                    </a:p>
                  </a:txBody>
                  <a:tcPr>
                    <a:solidFill>
                      <a:srgbClr val="D8E7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D2240"/>
                          </a:solidFill>
                          <a:latin typeface="Aptos"/>
                        </a:defRPr>
                      </a:pPr>
                      <a:r>
                        <a:t>Observed Output</a:t>
                      </a:r>
                    </a:p>
                  </a:txBody>
                  <a:tcPr>
                    <a:solidFill>
                      <a:srgbClr val="D8E7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D2240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D8E7F1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TC01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Role-Based Access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Valid Supervisor Credentials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Access granted to GIS 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TC02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Live GPS Telemetry Stream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Lat: 17.8974, Lng: 83.4485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Vehicle marker moves at 24 km/h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TC03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Geofenced Proof Collection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Vehicle within 5m (&lt;=15m)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Collection validated; proof logged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TC04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Out-of-Bounds Rejection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Vehicle at 450m (&gt;15m)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Action locked; warning shown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TC05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Citizen Ticket Redressal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Phone GPS Pin + Photo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2A30"/>
                          </a:solidFill>
                          <a:latin typeface="Aptos"/>
                        </a:defRPr>
                      </a:pPr>
                      <a:r>
                        <a:t>Ticket #CMP-2026-106 tracked 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72400" y="1508760"/>
            <a:ext cx="3822191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Quality Assurance Benchmarks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100% Core Test Pass Rate: All functional test cases executed successfully across all three user modules with zero defects.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Sub-250ms API Latency: Stateless REST endpoints maintain rapid response times under simulated concurrent requests.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Sub-10m GPS Precision: Field testing confirmed high-accuracy geofencing matching using commodity smartphone A-GPS.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Edge Boundary Resilience: Confirmed strict rejection of unauthorized coordinates and network disconnect recovery.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897880"/>
            <a:ext cx="10927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40"/>
                </a:solidFill>
                <a:latin typeface="Aptos"/>
              </a:rPr>
              <a:t>Quality Benchmark: </a:t>
            </a:r>
            <a:r>
              <a:rPr sz="1200">
                <a:solidFill>
                  <a:srgbClr val="242A30"/>
                </a:solidFill>
                <a:latin typeface="Aptos"/>
              </a:rPr>
              <a:t>Zero boundary violations observed; out-of-bounds collection requests (&gt;15m) are strictly blocked with 100% consistency.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65760"/>
            <a:ext cx="10917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2240"/>
                </a:solidFill>
                <a:latin typeface="Aptos"/>
              </a:defRPr>
            </a:pPr>
            <a:r>
              <a:t>Operational boundaries &amp; future engineering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F6870"/>
                </a:solidFill>
                <a:latin typeface="Aptos"/>
              </a:defRPr>
            </a:pPr>
            <a:r>
              <a:t>Recognizing physical-world constraints and mapping the technical transition to automated artificial intelligence.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6382512"/>
            <a:ext cx="10972800" cy="13716"/>
          </a:xfrm>
          <a:prstGeom prst="rect">
            <a:avLst/>
          </a:prstGeom>
          <a:solidFill>
            <a:srgbClr val="CCD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446520"/>
            <a:ext cx="888796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F6870"/>
                </a:solidFill>
                <a:latin typeface="Aptos"/>
              </a:defRPr>
            </a:pPr>
            <a:r>
              <a:t>CIVICCLEAN  |  GPS FLEET TRACKING &amp; ROUTE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870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508760"/>
            <a:ext cx="5376672" cy="42062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B45309"/>
                </a:solidFill>
                <a:latin typeface="Aptos"/>
              </a:defRPr>
            </a:pPr>
            <a:r>
              <a:t>Current Operational Boundaries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Driver Phone Dependency: Fleet tracking is contingent on the driver keeping their phone charged and location permissions enabled.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Cellular Dead Zones: Signal drops in dense valleys temporarily pause telemetry streaming (buffered in local storage).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Absence of In-Bin Scales: Because bins lack physical load cells, collected garbage weights rely on driver volumetric estimation.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Driver Compliance Reliance: Requires driver cooperation to tap 'Mark Collected' and capture photos at scheduled stops.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08760"/>
            <a:ext cx="5376672" cy="4206240"/>
          </a:xfrm>
          <a:prstGeom prst="roundRect">
            <a:avLst/>
          </a:prstGeom>
          <a:solidFill>
            <a:srgbClr val="D8E7F1"/>
          </a:solidFill>
          <a:ln w="12700">
            <a:solidFill>
              <a:srgbClr val="36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366F91"/>
                </a:solidFill>
                <a:latin typeface="Aptos"/>
              </a:defRPr>
            </a:pPr>
            <a:r>
              <a:t>Future Engineering Roadmap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Computer Vision (YOLOv8) AI: Automatically analyzes driver collection photos to verify bin fullness percentage and detect unsegregated waste.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Dynamic Route Optimization (VRP): Integrates Vehicle Routing Problem algorithms to dynamically reorder stops based on live traffic.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Offline-First SQLite Caching: Client-side database caching ensures zero data loss during prolonged cellular blackouts.</a:t>
            </a:r>
          </a:p>
          <a:p>
            <a:pPr>
              <a:spcAft>
                <a:spcPts val="600"/>
              </a:spcAft>
              <a:defRPr sz="1200">
                <a:solidFill>
                  <a:srgbClr val="242A30"/>
                </a:solidFill>
                <a:latin typeface="Aptos"/>
              </a:defRPr>
            </a:pPr>
            <a:r>
              <a:t>• Municipal WhatsApp Bot: Allows residents to submit garbage complaints directly via WhatsApp with automated location extraction.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897880"/>
            <a:ext cx="10927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40"/>
                </a:solidFill>
                <a:latin typeface="Aptos"/>
              </a:rPr>
              <a:t>Roadmap: </a:t>
            </a:r>
            <a:r>
              <a:rPr sz="1200">
                <a:solidFill>
                  <a:srgbClr val="242A30"/>
                </a:solidFill>
                <a:latin typeface="Aptos"/>
              </a:rPr>
              <a:t>Integrating YOLOv8 computer vision will automatically estimate bin fill percentage from driver arrival photos.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65760"/>
            <a:ext cx="10917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2240"/>
                </a:solidFill>
                <a:latin typeface="Aptos"/>
              </a:defRPr>
            </a:pPr>
            <a:r>
              <a:t>Key takeaways &amp; project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F6870"/>
                </a:solidFill>
                <a:latin typeface="Aptos"/>
              </a:defRPr>
            </a:pPr>
            <a:r>
              <a:t>A complete software platform demonstrating that smart city waste logistics can be solved through software alone.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6382512"/>
            <a:ext cx="10972800" cy="13716"/>
          </a:xfrm>
          <a:prstGeom prst="rect">
            <a:avLst/>
          </a:prstGeom>
          <a:solidFill>
            <a:srgbClr val="CCD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446520"/>
            <a:ext cx="888796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F6870"/>
                </a:solidFill>
                <a:latin typeface="Aptos"/>
              </a:defRPr>
            </a:pPr>
            <a:r>
              <a:t>CIVICCLEAN  |  GPS FLEET TRACKING &amp; ROUTE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870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508760"/>
            <a:ext cx="352044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366F91"/>
                </a:solidFill>
                <a:latin typeface="Aptos"/>
              </a:defRPr>
            </a:pPr>
            <a:r>
              <a:t>Full-Stack GIS Web Platform</a:t>
            </a:r>
          </a:p>
          <a:p>
            <a:pPr>
              <a:spcAft>
                <a:spcPts val="200"/>
              </a:spcAft>
              <a:defRPr sz="1150">
                <a:solidFill>
                  <a:srgbClr val="242A30"/>
                </a:solidFill>
                <a:latin typeface="Aptos"/>
              </a:defRPr>
            </a:pPr>
            <a:r>
              <a:t>• Node.js &amp; Express REST Backend</a:t>
            </a:r>
          </a:p>
          <a:p>
            <a:pPr>
              <a:spcAft>
                <a:spcPts val="200"/>
              </a:spcAft>
              <a:defRPr sz="1150">
                <a:solidFill>
                  <a:srgbClr val="242A30"/>
                </a:solidFill>
                <a:latin typeface="Aptos"/>
              </a:defRPr>
            </a:pPr>
            <a:r>
              <a:t>• Leaflet.js &amp; OpenStreetMap Canvas</a:t>
            </a:r>
          </a:p>
          <a:p>
            <a:pPr>
              <a:spcAft>
                <a:spcPts val="200"/>
              </a:spcAft>
              <a:defRPr sz="1150">
                <a:solidFill>
                  <a:srgbClr val="242A30"/>
                </a:solidFill>
                <a:latin typeface="Aptos"/>
              </a:defRPr>
            </a:pPr>
            <a:r>
              <a:t>• Live Telemetry &amp; Audit Trail Engine</a:t>
            </a:r>
          </a:p>
          <a:p>
            <a:pPr>
              <a:spcAft>
                <a:spcPts val="200"/>
              </a:spcAft>
              <a:defRPr sz="1150">
                <a:solidFill>
                  <a:srgbClr val="242A30"/>
                </a:solidFill>
                <a:latin typeface="Aptos"/>
              </a:defRPr>
            </a:pPr>
            <a:r>
              <a:t>• Running on: http://localhost:3000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508760"/>
            <a:ext cx="352044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217B92"/>
                </a:solidFill>
                <a:latin typeface="Aptos"/>
              </a:defRPr>
            </a:pPr>
            <a:r>
              <a:t>Streamlit Community Cloud App</a:t>
            </a:r>
          </a:p>
          <a:p>
            <a:pPr>
              <a:spcAft>
                <a:spcPts val="200"/>
              </a:spcAft>
              <a:defRPr sz="1150">
                <a:solidFill>
                  <a:srgbClr val="242A30"/>
                </a:solidFill>
                <a:latin typeface="Aptos"/>
              </a:defRPr>
            </a:pPr>
            <a:r>
              <a:t>• Interactive Streamlit + Folium App</a:t>
            </a:r>
          </a:p>
          <a:p>
            <a:pPr>
              <a:spcAft>
                <a:spcPts val="200"/>
              </a:spcAft>
              <a:defRPr sz="1150">
                <a:solidFill>
                  <a:srgbClr val="242A30"/>
                </a:solidFill>
                <a:latin typeface="Aptos"/>
              </a:defRPr>
            </a:pPr>
            <a:r>
              <a:t>• Driver Manifest &amp; Citizen Portal</a:t>
            </a:r>
          </a:p>
          <a:p>
            <a:pPr>
              <a:spcAft>
                <a:spcPts val="200"/>
              </a:spcAft>
              <a:defRPr sz="1150">
                <a:solidFill>
                  <a:srgbClr val="242A30"/>
                </a:solidFill>
                <a:latin typeface="Aptos"/>
              </a:defRPr>
            </a:pPr>
            <a:r>
              <a:t>• Public Repo: saikiranbora25-byte</a:t>
            </a:r>
          </a:p>
          <a:p>
            <a:pPr>
              <a:spcAft>
                <a:spcPts val="200"/>
              </a:spcAft>
              <a:defRPr sz="1150">
                <a:solidFill>
                  <a:srgbClr val="242A30"/>
                </a:solidFill>
                <a:latin typeface="Aptos"/>
              </a:defRPr>
            </a:pPr>
            <a:r>
              <a:t>• 1-Click Cloud Deployment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508760"/>
            <a:ext cx="352044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0D2240"/>
                </a:solidFill>
                <a:latin typeface="Aptos"/>
              </a:defRPr>
            </a:pPr>
            <a:r>
              <a:t>Academic Project Report</a:t>
            </a:r>
          </a:p>
          <a:p>
            <a:pPr>
              <a:spcAft>
                <a:spcPts val="200"/>
              </a:spcAft>
              <a:defRPr sz="1150">
                <a:solidFill>
                  <a:srgbClr val="242A30"/>
                </a:solidFill>
                <a:latin typeface="Aptos"/>
              </a:defRPr>
            </a:pPr>
            <a:r>
              <a:t>• 8,123-word Comprehensive Book</a:t>
            </a:r>
          </a:p>
          <a:p>
            <a:pPr>
              <a:spcAft>
                <a:spcPts val="200"/>
              </a:spcAft>
              <a:defRPr sz="1150">
                <a:solidFill>
                  <a:srgbClr val="242A30"/>
                </a:solidFill>
                <a:latin typeface="Aptos"/>
              </a:defRPr>
            </a:pPr>
            <a:r>
              <a:t>• Strict ANITS Template Compliance</a:t>
            </a:r>
          </a:p>
          <a:p>
            <a:pPr>
              <a:spcAft>
                <a:spcPts val="200"/>
              </a:spcAft>
              <a:defRPr sz="1150">
                <a:solidFill>
                  <a:srgbClr val="242A30"/>
                </a:solidFill>
                <a:latin typeface="Aptos"/>
              </a:defRPr>
            </a:pPr>
            <a:r>
              <a:t>• 11 Tables &amp; 20 Embedded Figures</a:t>
            </a:r>
          </a:p>
          <a:p>
            <a:pPr>
              <a:spcAft>
                <a:spcPts val="200"/>
              </a:spcAft>
              <a:defRPr sz="1150">
                <a:solidFill>
                  <a:srgbClr val="242A30"/>
                </a:solidFill>
                <a:latin typeface="Aptos"/>
              </a:defRPr>
            </a:pPr>
            <a:r>
              <a:t>• Formatted for Spiral Binding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4114800"/>
            <a:ext cx="10972800" cy="1691640"/>
          </a:xfrm>
          <a:prstGeom prst="roundRect">
            <a:avLst/>
          </a:prstGeom>
          <a:solidFill>
            <a:srgbClr val="0D2240"/>
          </a:solidFill>
          <a:ln w="19050">
            <a:solidFill>
              <a:srgbClr val="36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/>
          <a:lstStyle/>
          <a:p>
            <a:pPr algn="ctr">
              <a:spcAft>
                <a:spcPts val="300"/>
              </a:spcAft>
              <a:defRPr sz="2400" b="1">
                <a:solidFill>
                  <a:srgbClr val="38BDF8"/>
                </a:solidFill>
                <a:latin typeface="Aptos Display"/>
              </a:defRPr>
            </a:pPr>
            <a:r>
              <a:t>THANK YOU!</a:t>
            </a:r>
          </a:p>
          <a:p>
            <a:pPr algn="ctr">
              <a:spcAft>
                <a:spcPts val="300"/>
              </a:spcAft>
              <a:defRPr sz="1350" b="1">
                <a:solidFill>
                  <a:srgbClr val="FFFFFF"/>
                </a:solidFill>
                <a:latin typeface="Aptos"/>
              </a:defRPr>
            </a:pPr>
            <a:r>
              <a:t>Questions &amp; Technical Discussion Welcome</a:t>
            </a:r>
          </a:p>
          <a:p>
            <a:pPr algn="ctr">
              <a:defRPr sz="1100">
                <a:solidFill>
                  <a:srgbClr val="94A3B8"/>
                </a:solidFill>
                <a:latin typeface="Aptos"/>
              </a:defRPr>
            </a:pPr>
            <a:r>
              <a:t>SAIKIRAN BORA (Roll No: A24126510006)  •  B.Tech III Year CSE (Section - A)  •  ANITS (Autonomous), Visakhapatnam</a:t>
            </a:r>
          </a:p>
          <a:p>
            <a:pPr algn="ctr">
              <a:defRPr sz="1050">
                <a:solidFill>
                  <a:srgbClr val="94A3B8"/>
                </a:solidFill>
                <a:latin typeface="Aptos"/>
              </a:defRPr>
            </a:pPr>
            <a:r>
              <a:t>Faculty Guide: Prof. A. Rohini  •  Head of Department: Prof. G. Srinivas  •  Academic Year 2026–2027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5897880"/>
            <a:ext cx="10927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40"/>
                </a:solidFill>
                <a:latin typeface="Aptos"/>
              </a:rPr>
              <a:t>Final Takeaway: </a:t>
            </a:r>
            <a:r>
              <a:rPr sz="1200">
                <a:solidFill>
                  <a:srgbClr val="242A30"/>
                </a:solidFill>
                <a:latin typeface="Aptos"/>
              </a:rPr>
              <a:t>CivicClean delivers complete municipal fleet tracking and verification with ZERO hardware expenditure.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